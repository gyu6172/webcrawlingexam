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7" r:id="rId5"/>
    <p:sldId id="267" r:id="rId6"/>
    <p:sldId id="272" r:id="rId7"/>
    <p:sldId id="273" r:id="rId8"/>
    <p:sldId id="274" r:id="rId9"/>
    <p:sldId id="275" r:id="rId10"/>
    <p:sldId id="279" r:id="rId11"/>
    <p:sldId id="276" r:id="rId12"/>
    <p:sldId id="277" r:id="rId13"/>
    <p:sldId id="280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74424" autoAdjust="0"/>
  </p:normalViewPr>
  <p:slideViewPr>
    <p:cSldViewPr snapToGrid="0">
      <p:cViewPr>
        <p:scale>
          <a:sx n="66" d="100"/>
          <a:sy n="66" d="100"/>
        </p:scale>
        <p:origin x="1050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E0D947-0CA7-41F0-BCB5-BE015DE3DC7A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43D7E0-A644-41B0-A320-3BB3B116AB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6108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92801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19D5D-A897-6E82-4609-309E55778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C943B2-EF0B-65D7-FFD9-F3FF715E3A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56A3B1-D6C8-FC8C-1012-77D454E3F3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C8B501-93B3-3DCB-78B4-CDE5CC091E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49620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71E75-A60A-FADD-A3A9-DC5E0244F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E50E01-1ABF-6EA5-5423-7593D0BD8F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E92BDA-2D45-AAAA-2D70-39A4247253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87377B-E199-C792-9588-EDD73B8628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694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61A400-4181-5E18-AA29-DCA88DB9FC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A057595-DE8A-B9E5-4BE8-19E12D535F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CDCFCC-8F3B-E531-9728-36A2C4A27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B8ABA-990B-4839-A5CF-E9C60468A1E3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9F394B-5607-EC5D-933B-AF5AC947C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C5852C-17A5-AFC0-6D60-C3A2DB879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9FB81-51BD-494E-9F66-72B38219CE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9112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8D8F0C3-F54E-4A6B-AE03-943025AB4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B7E57E-EFAF-5A5A-4636-2B68C062A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FCDF17-552B-4823-DEC7-E4D79B7742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2B8ABA-990B-4839-A5CF-E9C60468A1E3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8D90C8-D0DD-AF20-E9E9-879622771C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4952FF-B0C4-3236-9F27-17210563FA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9FB81-51BD-494E-9F66-72B38219CE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1852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AE04B119-0882-9708-DB72-6EA38C619AA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977" y="186393"/>
            <a:ext cx="720000" cy="72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64EF98A-8244-87A2-1295-C92E1279359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281635" y="186393"/>
            <a:ext cx="719214" cy="72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F317C51-7B27-AEB1-2B38-F3665016C2E2}"/>
              </a:ext>
            </a:extLst>
          </p:cNvPr>
          <p:cNvSpPr txBox="1">
            <a:spLocks/>
          </p:cNvSpPr>
          <p:nvPr/>
        </p:nvSpPr>
        <p:spPr>
          <a:xfrm>
            <a:off x="455186" y="2436862"/>
            <a:ext cx="109902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과제</a:t>
            </a:r>
            <a:r>
              <a:rPr lang="en-US" altLang="ko-KR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_3</a:t>
            </a:r>
          </a:p>
          <a:p>
            <a:pPr algn="r"/>
            <a:r>
              <a:rPr lang="en-US" altLang="ko-KR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Word2Vec_</a:t>
            </a:r>
            <a:r>
              <a:rPr lang="ko-KR" altLang="en-US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구현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EF5F18-0381-63B7-5459-F9766831AC9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375643" y="3564693"/>
            <a:ext cx="2069798" cy="18794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세종대학교 </a:t>
            </a:r>
            <a:endParaRPr lang="en-US" altLang="ko-KR" sz="20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algn="r">
              <a:lnSpc>
                <a:spcPct val="150000"/>
              </a:lnSpc>
            </a:pP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소프트웨어</a:t>
            </a: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학과</a:t>
            </a:r>
            <a:endParaRPr lang="en-US" altLang="ko-KR" sz="20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algn="r">
              <a:lnSpc>
                <a:spcPct val="150000"/>
              </a:lnSpc>
            </a:pP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학번</a:t>
            </a: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22011831</a:t>
            </a:r>
          </a:p>
          <a:p>
            <a:pPr algn="r">
              <a:lnSpc>
                <a:spcPct val="150000"/>
              </a:lnSpc>
            </a:pP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이름</a:t>
            </a: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 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김형규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AECE80D-900C-97A8-98F6-8F0A42722D3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797358" y="3403924"/>
            <a:ext cx="10545812" cy="3816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E038ADC-FCCB-A8B5-FBCC-9DEDD9436225}"/>
              </a:ext>
            </a:extLst>
          </p:cNvPr>
          <p:cNvSpPr txBox="1">
            <a:spLocks/>
          </p:cNvSpPr>
          <p:nvPr/>
        </p:nvSpPr>
        <p:spPr>
          <a:xfrm>
            <a:off x="676513" y="2054575"/>
            <a:ext cx="24721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2026-1 </a:t>
            </a:r>
            <a:r>
              <a:rPr lang="ko-KR" altLang="en-US" sz="20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텍스트마이닝</a:t>
            </a:r>
            <a:endParaRPr lang="ko-KR" altLang="en-US" sz="20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7801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AE04B119-0882-9708-DB72-6EA38C619AA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64EF98A-8244-87A2-1295-C92E1279359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F317C51-7B27-AEB1-2B38-F3665016C2E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_3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EF5F18-0381-63B7-5459-F9766831AC9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108145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1</a:t>
            </a:r>
            <a:endParaRPr lang="ko-KR" altLang="en-US" sz="24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2ACBF2D3-0DCF-D330-E0D0-5368C878106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8CB4DD8-61E1-56F8-76F3-F5B1F4D68D84}"/>
              </a:ext>
            </a:extLst>
          </p:cNvPr>
          <p:cNvSpPr txBox="1"/>
          <p:nvPr/>
        </p:nvSpPr>
        <p:spPr>
          <a:xfrm>
            <a:off x="6096000" y="1506605"/>
            <a:ext cx="5792000" cy="28264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latin typeface="맑은 고딕"/>
              </a:rPr>
              <a:t>코드</a:t>
            </a:r>
            <a:r>
              <a:rPr sz="1400" b="1" dirty="0">
                <a:latin typeface="맑은 고딕"/>
              </a:rPr>
              <a:t> </a:t>
            </a:r>
            <a:r>
              <a:rPr sz="1400" b="1" dirty="0" err="1">
                <a:latin typeface="맑은 고딕"/>
              </a:rPr>
              <a:t>작성</a:t>
            </a:r>
            <a:r>
              <a:rPr sz="1400" b="1" dirty="0">
                <a:latin typeface="맑은 고딕"/>
              </a:rPr>
              <a:t> </a:t>
            </a:r>
            <a:r>
              <a:rPr sz="1400" b="1" dirty="0" err="1">
                <a:latin typeface="맑은 고딕"/>
              </a:rPr>
              <a:t>이유</a:t>
            </a:r>
            <a:endParaRPr sz="1400" b="1" dirty="0">
              <a:latin typeface="맑은 고딕"/>
            </a:endParaRPr>
          </a:p>
          <a:p>
            <a:pPr algn="l">
              <a:spcAft>
                <a:spcPts val="400"/>
              </a:spcAft>
            </a:pPr>
            <a:r>
              <a:rPr sz="1300" dirty="0">
                <a:latin typeface="맑은 고딕"/>
              </a:rPr>
              <a:t>1.</a:t>
            </a:r>
            <a:r>
              <a:rPr lang="en-US"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코퍼스를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토큰화하고</a:t>
            </a:r>
            <a:r>
              <a:rPr sz="1300" dirty="0">
                <a:latin typeface="맑은 고딕"/>
              </a:rPr>
              <a:t> set()</a:t>
            </a:r>
            <a:r>
              <a:rPr sz="1300" dirty="0" err="1">
                <a:latin typeface="맑은 고딕"/>
              </a:rPr>
              <a:t>으로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중복을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제거해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word_dict</a:t>
            </a:r>
            <a:r>
              <a:rPr sz="1300" dirty="0">
                <a:latin typeface="맑은 고딕"/>
              </a:rPr>
              <a:t> / </a:t>
            </a:r>
            <a:r>
              <a:rPr sz="1300" dirty="0" err="1">
                <a:latin typeface="맑은 고딕"/>
              </a:rPr>
              <a:t>number_dict를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만들었다</a:t>
            </a:r>
            <a:r>
              <a:rPr sz="1300" dirty="0">
                <a:latin typeface="맑은 고딕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300" dirty="0">
                <a:latin typeface="맑은 고딕"/>
              </a:rPr>
              <a:t>2. </a:t>
            </a:r>
            <a:r>
              <a:rPr sz="1300" dirty="0" err="1">
                <a:latin typeface="맑은 고딕"/>
              </a:rPr>
              <a:t>이후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단계의</a:t>
            </a:r>
            <a:r>
              <a:rPr sz="1300" dirty="0">
                <a:latin typeface="맑은 고딕"/>
              </a:rPr>
              <a:t> 원-핫 </a:t>
            </a:r>
            <a:r>
              <a:rPr sz="1300" dirty="0" err="1">
                <a:latin typeface="맑은 고딕"/>
              </a:rPr>
              <a:t>벡터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차원과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출력층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크기가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모두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vocab_size에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의존하므로</a:t>
            </a:r>
            <a:r>
              <a:rPr sz="1300" dirty="0">
                <a:latin typeface="맑은 고딕"/>
              </a:rPr>
              <a:t>, </a:t>
            </a:r>
            <a:r>
              <a:rPr sz="1300" dirty="0" err="1">
                <a:latin typeface="맑은 고딕"/>
              </a:rPr>
              <a:t>사전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구축이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가장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먼저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수행되어야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한다</a:t>
            </a:r>
            <a:r>
              <a:rPr sz="1300" dirty="0">
                <a:latin typeface="맑은 고딕"/>
              </a:rPr>
              <a:t>.</a:t>
            </a:r>
          </a:p>
          <a:p>
            <a:endParaRPr sz="1300" dirty="0">
              <a:latin typeface="맑은 고딕"/>
            </a:endParaRPr>
          </a:p>
          <a:p>
            <a:r>
              <a:rPr lang="ko-KR" altLang="en-US" sz="1400" b="1" dirty="0">
                <a:latin typeface="맑은 고딕"/>
              </a:rPr>
              <a:t>분석 결과</a:t>
            </a:r>
            <a:endParaRPr lang="en-US" altLang="ko-KR" sz="1400" b="1" dirty="0">
              <a:latin typeface="맑은 고딕"/>
            </a:endParaRPr>
          </a:p>
          <a:p>
            <a:r>
              <a:rPr sz="1300" dirty="0">
                <a:latin typeface="맑은 고딕"/>
              </a:rPr>
              <a:t>1. 총 </a:t>
            </a:r>
            <a:r>
              <a:rPr sz="1300" dirty="0" err="1">
                <a:latin typeface="맑은 고딕"/>
              </a:rPr>
              <a:t>어휘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수는</a:t>
            </a:r>
            <a:r>
              <a:rPr sz="1300" dirty="0">
                <a:latin typeface="맑은 고딕"/>
              </a:rPr>
              <a:t> 15개(</a:t>
            </a:r>
            <a:r>
              <a:rPr sz="1300" dirty="0" err="1">
                <a:latin typeface="맑은 고딕"/>
              </a:rPr>
              <a:t>vocab_size</a:t>
            </a:r>
            <a:r>
              <a:rPr sz="1300" dirty="0">
                <a:latin typeface="맑은 고딕"/>
              </a:rPr>
              <a:t>=15)로 </a:t>
            </a:r>
            <a:r>
              <a:rPr sz="1300" dirty="0" err="1">
                <a:latin typeface="맑은 고딕"/>
              </a:rPr>
              <a:t>매우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작은</a:t>
            </a:r>
            <a:r>
              <a:rPr sz="1300" dirty="0">
                <a:latin typeface="맑은 고딕"/>
              </a:rPr>
              <a:t> toy </a:t>
            </a:r>
            <a:r>
              <a:rPr sz="1300" dirty="0" err="1">
                <a:latin typeface="맑은 고딕"/>
              </a:rPr>
              <a:t>코퍼스이다</a:t>
            </a:r>
            <a:r>
              <a:rPr sz="1300" dirty="0">
                <a:latin typeface="맑은 고딕"/>
              </a:rPr>
              <a:t>. </a:t>
            </a:r>
            <a:r>
              <a:rPr sz="1300" dirty="0" err="1">
                <a:latin typeface="맑은 고딕"/>
              </a:rPr>
              <a:t>작은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어휘는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학습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시간을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짧게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해주지만</a:t>
            </a:r>
            <a:r>
              <a:rPr sz="1300" dirty="0">
                <a:latin typeface="맑은 고딕"/>
              </a:rPr>
              <a:t>, </a:t>
            </a:r>
            <a:r>
              <a:rPr sz="1300" dirty="0" err="1">
                <a:latin typeface="맑은 고딕"/>
              </a:rPr>
              <a:t>의미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관계가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형성되려면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동일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패턴이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여러</a:t>
            </a:r>
            <a:r>
              <a:rPr sz="1300" dirty="0">
                <a:latin typeface="맑은 고딕"/>
              </a:rPr>
              <a:t> 번 </a:t>
            </a:r>
            <a:r>
              <a:rPr sz="1300" dirty="0" err="1">
                <a:latin typeface="맑은 고딕"/>
              </a:rPr>
              <a:t>등장해야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한다</a:t>
            </a:r>
            <a:r>
              <a:rPr sz="1300" dirty="0">
                <a:latin typeface="맑은 고딕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300" dirty="0">
                <a:latin typeface="맑은 고딕"/>
              </a:rPr>
              <a:t>2. </a:t>
            </a:r>
            <a:r>
              <a:rPr sz="1300" dirty="0" err="1">
                <a:latin typeface="맑은 고딕"/>
              </a:rPr>
              <a:t>코퍼스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내에</a:t>
            </a:r>
            <a:r>
              <a:rPr sz="1300" dirty="0">
                <a:latin typeface="맑은 고딕"/>
              </a:rPr>
              <a:t> 'king/queen', 'man/woman', '</a:t>
            </a:r>
            <a:r>
              <a:rPr sz="1300" dirty="0" err="1">
                <a:latin typeface="맑은 고딕"/>
              </a:rPr>
              <a:t>seoul</a:t>
            </a:r>
            <a:r>
              <a:rPr sz="1300" dirty="0">
                <a:latin typeface="맑은 고딕"/>
              </a:rPr>
              <a:t>/</a:t>
            </a:r>
            <a:r>
              <a:rPr sz="1300" dirty="0" err="1">
                <a:latin typeface="맑은 고딕"/>
              </a:rPr>
              <a:t>tokyo</a:t>
            </a:r>
            <a:r>
              <a:rPr sz="1300" dirty="0">
                <a:latin typeface="맑은 고딕"/>
              </a:rPr>
              <a:t>/</a:t>
            </a:r>
            <a:r>
              <a:rPr sz="1300" dirty="0" err="1">
                <a:latin typeface="맑은 고딕"/>
              </a:rPr>
              <a:t>paris</a:t>
            </a:r>
            <a:r>
              <a:rPr sz="1300" dirty="0">
                <a:latin typeface="맑은 고딕"/>
              </a:rPr>
              <a:t>' </a:t>
            </a:r>
            <a:r>
              <a:rPr sz="1300" dirty="0" err="1">
                <a:latin typeface="맑은 고딕"/>
              </a:rPr>
              <a:t>같은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의미적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짝이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의도적으로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배치되어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있어</a:t>
            </a:r>
            <a:r>
              <a:rPr sz="1300" dirty="0">
                <a:latin typeface="맑은 고딕"/>
              </a:rPr>
              <a:t>, Skip-</a:t>
            </a:r>
            <a:r>
              <a:rPr sz="1300" dirty="0" err="1">
                <a:latin typeface="맑은 고딕"/>
              </a:rPr>
              <a:t>gram이</a:t>
            </a:r>
            <a:r>
              <a:rPr sz="1300" dirty="0">
                <a:latin typeface="맑은 고딕"/>
              </a:rPr>
              <a:t> 잘 </a:t>
            </a:r>
            <a:r>
              <a:rPr sz="1300" dirty="0" err="1">
                <a:latin typeface="맑은 고딕"/>
              </a:rPr>
              <a:t>학습되면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시각화에서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군집이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형성될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것이라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기대된다</a:t>
            </a:r>
            <a:r>
              <a:rPr lang="en-US" sz="1300" dirty="0">
                <a:latin typeface="맑은 고딕"/>
              </a:rPr>
              <a:t>.</a:t>
            </a:r>
            <a:endParaRPr sz="1300" dirty="0">
              <a:latin typeface="맑은 고딕"/>
            </a:endParaRPr>
          </a:p>
        </p:txBody>
      </p:sp>
      <p:pic>
        <p:nvPicPr>
          <p:cNvPr id="12" name="그림 11" descr="The image displays a coding environment with a list of sentences, each containing words representing various capital cities and their associated royal titles.&#10;&#10;AI 생성 콘텐츠는 정확하지 않을 수 있습니다.">
            <a:extLst>
              <a:ext uri="{FF2B5EF4-FFF2-40B4-BE49-F238E27FC236}">
                <a16:creationId xmlns:a16="http://schemas.microsoft.com/office/drawing/2014/main" id="{229D18C3-0A77-83D0-E571-82B2C62457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539" y="1506605"/>
            <a:ext cx="5767462" cy="3449386"/>
          </a:xfrm>
          <a:prstGeom prst="rect">
            <a:avLst/>
          </a:prstGeom>
        </p:spPr>
      </p:pic>
      <p:pic>
        <p:nvPicPr>
          <p:cNvPr id="18" name="그림 17" descr="The text provided appears to be a dictionary or a mapping of words to indices, with words such as 'seoul', 'she', 'king', and 'paris' being associated with numerical values.&#10;&#10;AI 생성 콘텐츠는 정확하지 않을 수 있습니다.">
            <a:extLst>
              <a:ext uri="{FF2B5EF4-FFF2-40B4-BE49-F238E27FC236}">
                <a16:creationId xmlns:a16="http://schemas.microsoft.com/office/drawing/2014/main" id="{78886F10-456A-7B05-DDA6-A6336CC006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384" y="5657836"/>
            <a:ext cx="11252845" cy="49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451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E90A1-FB02-82FA-6DF9-B88035FCA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8CC5F36A-29BD-9C58-7033-6DD96F81739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E9C1168-088E-F523-E3A9-7ED1D5EAAC8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F2365BD-3484-91D2-021C-B0F909ECA54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_3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AA87D7-6DCE-1BA3-1043-2B3B12888C2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108145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2</a:t>
            </a:r>
            <a:endParaRPr lang="ko-KR" altLang="en-US" sz="24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108C6BF8-8C82-380B-D6DF-D92D080C108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00000" y="1250124"/>
            <a:ext cx="5896000" cy="28777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latin typeface="맑은 고딕"/>
              </a:rPr>
              <a:t>코드</a:t>
            </a:r>
            <a:r>
              <a:rPr sz="1400" b="1" dirty="0">
                <a:latin typeface="맑은 고딕"/>
              </a:rPr>
              <a:t> </a:t>
            </a:r>
            <a:r>
              <a:rPr sz="1400" b="1" dirty="0" err="1">
                <a:latin typeface="맑은 고딕"/>
              </a:rPr>
              <a:t>작성</a:t>
            </a:r>
            <a:r>
              <a:rPr sz="1400" b="1" dirty="0">
                <a:latin typeface="맑은 고딕"/>
              </a:rPr>
              <a:t> </a:t>
            </a:r>
            <a:r>
              <a:rPr sz="1400" b="1" dirty="0" err="1">
                <a:latin typeface="맑은 고딕"/>
              </a:rPr>
              <a:t>이유</a:t>
            </a:r>
            <a:endParaRPr sz="1400" b="1" dirty="0">
              <a:latin typeface="맑은 고딕"/>
            </a:endParaRPr>
          </a:p>
          <a:p>
            <a:pPr algn="l">
              <a:spcAft>
                <a:spcPts val="400"/>
              </a:spcAft>
            </a:pPr>
            <a:r>
              <a:rPr sz="1300" dirty="0">
                <a:latin typeface="맑은 고딕"/>
              </a:rPr>
              <a:t>1. Skip-</a:t>
            </a:r>
            <a:r>
              <a:rPr sz="1300" dirty="0" err="1">
                <a:latin typeface="맑은 고딕"/>
              </a:rPr>
              <a:t>gram은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중심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단어로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주변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단어를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예측하므로</a:t>
            </a:r>
            <a:r>
              <a:rPr sz="1300" dirty="0">
                <a:latin typeface="맑은 고딕"/>
              </a:rPr>
              <a:t> (target, context) 쌍 </a:t>
            </a:r>
            <a:r>
              <a:rPr sz="1300" dirty="0" err="1">
                <a:latin typeface="맑은 고딕"/>
              </a:rPr>
              <a:t>자체가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학습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데이터가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된다</a:t>
            </a:r>
            <a:r>
              <a:rPr sz="1300" dirty="0">
                <a:latin typeface="맑은 고딕"/>
              </a:rPr>
              <a:t>. </a:t>
            </a:r>
            <a:r>
              <a:rPr sz="1300" dirty="0" err="1">
                <a:latin typeface="맑은 고딕"/>
              </a:rPr>
              <a:t>window_size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내의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인덱스를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순회해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자기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자신을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제외한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모든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주변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단어를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짝지어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주었다</a:t>
            </a:r>
            <a:r>
              <a:rPr sz="1300" dirty="0">
                <a:latin typeface="맑은 고딕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300" dirty="0">
                <a:latin typeface="맑은 고딕"/>
              </a:rPr>
              <a:t>2. tokens[j]를 </a:t>
            </a:r>
            <a:r>
              <a:rPr sz="1300" dirty="0" err="1">
                <a:latin typeface="맑은 고딕"/>
              </a:rPr>
              <a:t>word_dict로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매핑해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인덱스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형태로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저장한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이유는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CrossEntropyLoss가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정답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라벨로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정수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인덱스를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요구하기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때문이다</a:t>
            </a:r>
            <a:r>
              <a:rPr sz="1300" dirty="0">
                <a:latin typeface="맑은 고딕"/>
              </a:rPr>
              <a:t>.</a:t>
            </a:r>
          </a:p>
          <a:p>
            <a:endParaRPr sz="1300" dirty="0">
              <a:latin typeface="맑은 고딕"/>
            </a:endParaRPr>
          </a:p>
          <a:p>
            <a:r>
              <a:rPr sz="1400" b="1" dirty="0" err="1">
                <a:latin typeface="맑은 고딕"/>
              </a:rPr>
              <a:t>분석</a:t>
            </a:r>
            <a:r>
              <a:rPr sz="1400" b="1" dirty="0">
                <a:latin typeface="맑은 고딕"/>
              </a:rPr>
              <a:t> </a:t>
            </a:r>
            <a:r>
              <a:rPr sz="1400" b="1" dirty="0" err="1">
                <a:latin typeface="맑은 고딕"/>
              </a:rPr>
              <a:t>결과</a:t>
            </a:r>
            <a:endParaRPr sz="1400" b="1" dirty="0">
              <a:latin typeface="맑은 고딕"/>
            </a:endParaRPr>
          </a:p>
          <a:p>
            <a:pPr>
              <a:spcAft>
                <a:spcPts val="400"/>
              </a:spcAft>
            </a:pPr>
            <a:r>
              <a:rPr sz="1300" dirty="0">
                <a:latin typeface="맑은 고딕"/>
              </a:rPr>
              <a:t>1. </a:t>
            </a:r>
            <a:r>
              <a:rPr sz="1300" dirty="0" err="1">
                <a:latin typeface="맑은 고딕"/>
              </a:rPr>
              <a:t>window_size</a:t>
            </a:r>
            <a:r>
              <a:rPr sz="1300" dirty="0">
                <a:latin typeface="맑은 고딕"/>
              </a:rPr>
              <a:t>=1이라는 </a:t>
            </a:r>
            <a:r>
              <a:rPr sz="1300" dirty="0" err="1">
                <a:latin typeface="맑은 고딕"/>
              </a:rPr>
              <a:t>좁은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윈도우에서도</a:t>
            </a:r>
            <a:r>
              <a:rPr sz="1300" dirty="0">
                <a:latin typeface="맑은 고딕"/>
              </a:rPr>
              <a:t> 7개 </a:t>
            </a:r>
            <a:r>
              <a:rPr sz="1300" dirty="0" err="1">
                <a:latin typeface="맑은 고딕"/>
              </a:rPr>
              <a:t>문장만으로</a:t>
            </a:r>
            <a:r>
              <a:rPr sz="1300" dirty="0">
                <a:latin typeface="맑은 고딕"/>
              </a:rPr>
              <a:t> 42개의 </a:t>
            </a:r>
            <a:r>
              <a:rPr sz="1300" dirty="0" err="1">
                <a:latin typeface="맑은 고딕"/>
              </a:rPr>
              <a:t>학습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쌍이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생성됐다</a:t>
            </a:r>
            <a:r>
              <a:rPr sz="1300" dirty="0">
                <a:latin typeface="맑은 고딕"/>
              </a:rPr>
              <a:t>. </a:t>
            </a:r>
            <a:r>
              <a:rPr sz="1300" dirty="0" err="1">
                <a:latin typeface="맑은 고딕"/>
              </a:rPr>
              <a:t>같은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문장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안에서</a:t>
            </a:r>
            <a:r>
              <a:rPr sz="1300" dirty="0">
                <a:latin typeface="맑은 고딕"/>
              </a:rPr>
              <a:t> (target, context)와 (context, target)이 </a:t>
            </a:r>
            <a:r>
              <a:rPr sz="1300" dirty="0" err="1">
                <a:latin typeface="맑은 고딕"/>
              </a:rPr>
              <a:t>모두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들어가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양방향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학습이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자연스럽게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이뤄진다</a:t>
            </a:r>
            <a:r>
              <a:rPr sz="1300" dirty="0">
                <a:latin typeface="맑은 고딕"/>
              </a:rPr>
              <a:t>.</a:t>
            </a:r>
            <a:endParaRPr lang="en-US" sz="1300" dirty="0">
              <a:latin typeface="맑은 고딕"/>
            </a:endParaRPr>
          </a:p>
          <a:p>
            <a:pPr>
              <a:spcAft>
                <a:spcPts val="400"/>
              </a:spcAft>
            </a:pPr>
            <a:r>
              <a:rPr lang="en-US" sz="1300" dirty="0">
                <a:latin typeface="맑은 고딕"/>
              </a:rPr>
              <a:t>2</a:t>
            </a:r>
            <a:r>
              <a:rPr sz="1300" dirty="0">
                <a:latin typeface="맑은 고딕"/>
              </a:rPr>
              <a:t>. </a:t>
            </a:r>
            <a:r>
              <a:rPr sz="1300" dirty="0" err="1">
                <a:latin typeface="맑은 고딕"/>
              </a:rPr>
              <a:t>윈도우가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작으면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직접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인접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단어만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학습하므로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의미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군집은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명확해지지만</a:t>
            </a:r>
            <a:r>
              <a:rPr sz="1300" dirty="0">
                <a:latin typeface="맑은 고딕"/>
              </a:rPr>
              <a:t>, </a:t>
            </a:r>
            <a:r>
              <a:rPr sz="1300" dirty="0" err="1">
                <a:latin typeface="맑은 고딕"/>
              </a:rPr>
              <a:t>멀리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떨어진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단어</a:t>
            </a:r>
            <a:r>
              <a:rPr sz="1300" dirty="0">
                <a:latin typeface="맑은 고딕"/>
              </a:rPr>
              <a:t> 간 </a:t>
            </a:r>
            <a:r>
              <a:rPr sz="1300" dirty="0" err="1">
                <a:latin typeface="맑은 고딕"/>
              </a:rPr>
              <a:t>관계는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학습되지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않는다</a:t>
            </a:r>
            <a:r>
              <a:rPr sz="1300" dirty="0">
                <a:latin typeface="맑은 고딕"/>
              </a:rPr>
              <a:t>.</a:t>
            </a:r>
          </a:p>
        </p:txBody>
      </p:sp>
      <p:pic>
        <p:nvPicPr>
          <p:cNvPr id="4" name="그림 3" descr="The image shows a code snippet from a Python script, specifically a loop that generates skip-gram pairs from a text corpus, with variables for window size, tokens, and the resulting skip-gram pairs.&#10;&#10;AI 생성 콘텐츠는 정확하지 않을 수 있습니다.">
            <a:extLst>
              <a:ext uri="{FF2B5EF4-FFF2-40B4-BE49-F238E27FC236}">
                <a16:creationId xmlns:a16="http://schemas.microsoft.com/office/drawing/2014/main" id="{5E3B2935-1F0F-F1A7-83DD-E361C1C277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000" y="1359871"/>
            <a:ext cx="5896000" cy="2445758"/>
          </a:xfrm>
          <a:prstGeom prst="rect">
            <a:avLst/>
          </a:prstGeom>
        </p:spPr>
      </p:pic>
      <p:pic>
        <p:nvPicPr>
          <p:cNvPr id="7" name="그림 6" descr="The image displays a simple code snippet in Korean, showing the count of generated training data as 42 and a list of the first five pairs of target and context data.&#10;&#10;AI 생성 콘텐츠는 정확하지 않을 수 있습니다.">
            <a:extLst>
              <a:ext uri="{FF2B5EF4-FFF2-40B4-BE49-F238E27FC236}">
                <a16:creationId xmlns:a16="http://schemas.microsoft.com/office/drawing/2014/main" id="{554AD9E9-148C-3A5E-EC3B-3110B2A1EC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0000" y="5558000"/>
            <a:ext cx="6644949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061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79AAC-47A7-EBFB-295C-9CF54D33E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6471A8FE-CE04-842D-E7A1-2CBFA6E9570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D19002B-861E-CD1A-011A-3046D3025BE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CD36481-F321-C381-55CE-DD5E2AEFF68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_3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871446-625D-D879-6134-CC75B7D4C93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108145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3</a:t>
            </a:r>
            <a:endParaRPr lang="ko-KR" altLang="en-US" sz="24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AD640375-E53E-B20C-4AE8-32A07C8729C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851109" y="4231011"/>
            <a:ext cx="5915801" cy="26391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latin typeface="맑은 고딕"/>
              </a:rPr>
              <a:t>코드</a:t>
            </a:r>
            <a:r>
              <a:rPr sz="1400" b="1" dirty="0">
                <a:latin typeface="맑은 고딕"/>
              </a:rPr>
              <a:t> </a:t>
            </a:r>
            <a:r>
              <a:rPr sz="1400" b="1" dirty="0" err="1">
                <a:latin typeface="맑은 고딕"/>
              </a:rPr>
              <a:t>작성</a:t>
            </a:r>
            <a:r>
              <a:rPr sz="1400" b="1" dirty="0">
                <a:latin typeface="맑은 고딕"/>
              </a:rPr>
              <a:t> </a:t>
            </a:r>
            <a:r>
              <a:rPr sz="1400" b="1" dirty="0" err="1">
                <a:latin typeface="맑은 고딕"/>
              </a:rPr>
              <a:t>이유</a:t>
            </a:r>
            <a:endParaRPr sz="1400" b="1" dirty="0">
              <a:latin typeface="맑은 고딕"/>
            </a:endParaRPr>
          </a:p>
          <a:p>
            <a:pPr>
              <a:spcAft>
                <a:spcPts val="400"/>
              </a:spcAft>
            </a:pPr>
            <a:r>
              <a:rPr sz="1300" dirty="0">
                <a:latin typeface="맑은 고딕"/>
              </a:rPr>
              <a:t>1. </a:t>
            </a:r>
            <a:r>
              <a:rPr lang="ko-KR" altLang="en-US" sz="1300" dirty="0"/>
              <a:t>입력층에서 은닉층으로 가는 가중치 행렬</a:t>
            </a:r>
            <a:r>
              <a:rPr lang="en-US" altLang="ko-KR" sz="1300" dirty="0"/>
              <a:t>W</a:t>
            </a:r>
            <a:r>
              <a:rPr lang="ko-KR" altLang="en-US" sz="1300" dirty="0"/>
              <a:t>와 은닉층에서 출력층으로 가는 행렬</a:t>
            </a:r>
            <a:r>
              <a:rPr lang="en-US" altLang="ko-KR" sz="1300" dirty="0"/>
              <a:t>WT</a:t>
            </a:r>
            <a:r>
              <a:rPr lang="ko-KR" altLang="en-US" sz="1300" dirty="0"/>
              <a:t>를 정의한다</a:t>
            </a:r>
            <a:r>
              <a:rPr lang="en-US" altLang="ko-KR" sz="1300" dirty="0"/>
              <a:t>. </a:t>
            </a:r>
          </a:p>
          <a:p>
            <a:pPr>
              <a:spcAft>
                <a:spcPts val="400"/>
              </a:spcAft>
            </a:pPr>
            <a:r>
              <a:rPr lang="en-US" altLang="ko-KR" sz="1300" dirty="0"/>
              <a:t>2.</a:t>
            </a:r>
            <a:r>
              <a:rPr lang="ko-KR" altLang="en-US" sz="1300" dirty="0"/>
              <a:t>은닉층의 크기</a:t>
            </a:r>
            <a:r>
              <a:rPr lang="en-US" altLang="ko-KR" sz="1300" dirty="0"/>
              <a:t>(</a:t>
            </a:r>
            <a:r>
              <a:rPr lang="en-US" altLang="ko-KR" sz="1300" dirty="0" err="1"/>
              <a:t>embedding_size</a:t>
            </a:r>
            <a:r>
              <a:rPr lang="en-US" altLang="ko-KR" sz="1300" dirty="0"/>
              <a:t>)</a:t>
            </a:r>
            <a:r>
              <a:rPr lang="ko-KR" altLang="en-US" sz="1300" dirty="0"/>
              <a:t>가 바로 우리가 얻고자 하는 단어 벡터의 차원수가 된다</a:t>
            </a:r>
            <a:r>
              <a:rPr lang="en-US" altLang="ko-KR" sz="1300" dirty="0"/>
              <a:t>. </a:t>
            </a:r>
            <a:r>
              <a:rPr lang="ko-KR" altLang="en-US" sz="1300" dirty="0"/>
              <a:t>시각화를 위해 초기 설정은 </a:t>
            </a:r>
            <a:r>
              <a:rPr lang="en-US" altLang="ko-KR" sz="1300" dirty="0"/>
              <a:t>2</a:t>
            </a:r>
            <a:r>
              <a:rPr lang="ko-KR" altLang="en-US" sz="1300" dirty="0"/>
              <a:t>차원으로 지정하였다</a:t>
            </a:r>
            <a:r>
              <a:rPr lang="en-US" altLang="ko-KR" sz="1300" dirty="0"/>
              <a:t>.</a:t>
            </a:r>
            <a:endParaRPr lang="en-US" sz="1050" dirty="0">
              <a:latin typeface="맑은 고딕"/>
            </a:endParaRPr>
          </a:p>
          <a:p>
            <a:endParaRPr sz="1050" dirty="0">
              <a:latin typeface="맑은 고딕"/>
            </a:endParaRPr>
          </a:p>
          <a:p>
            <a:r>
              <a:rPr sz="1400" b="1" dirty="0" err="1">
                <a:latin typeface="맑은 고딕"/>
              </a:rPr>
              <a:t>분석</a:t>
            </a:r>
            <a:r>
              <a:rPr sz="1400" b="1" dirty="0">
                <a:latin typeface="맑은 고딕"/>
              </a:rPr>
              <a:t> </a:t>
            </a:r>
            <a:r>
              <a:rPr sz="1400" b="1" dirty="0" err="1">
                <a:latin typeface="맑은 고딕"/>
              </a:rPr>
              <a:t>결과</a:t>
            </a:r>
            <a:endParaRPr sz="1400" b="1" dirty="0">
              <a:latin typeface="맑은 고딕"/>
            </a:endParaRPr>
          </a:p>
          <a:p>
            <a:pPr>
              <a:spcAft>
                <a:spcPts val="400"/>
              </a:spcAft>
            </a:pPr>
            <a:r>
              <a:rPr sz="1300" dirty="0">
                <a:latin typeface="맑은 고딕"/>
              </a:rPr>
              <a:t>1. </a:t>
            </a:r>
            <a:r>
              <a:rPr lang="en-US" sz="1300" dirty="0">
                <a:latin typeface="맑은 고딕"/>
              </a:rPr>
              <a:t>Word2Vec</a:t>
            </a:r>
            <a:r>
              <a:rPr lang="ko-KR" altLang="en-US" sz="1300" dirty="0">
                <a:latin typeface="맑은 고딕"/>
              </a:rPr>
              <a:t>에서는 은닉층에 활성화 함수가 없다</a:t>
            </a:r>
            <a:r>
              <a:rPr lang="en-US" altLang="ko-KR" sz="1300" dirty="0">
                <a:latin typeface="맑은 고딕"/>
              </a:rPr>
              <a:t>. </a:t>
            </a:r>
            <a:r>
              <a:rPr lang="ko-KR" altLang="en-US" sz="1300" dirty="0"/>
              <a:t>은닉층에 비선형 활성화 함수</a:t>
            </a:r>
            <a:r>
              <a:rPr lang="en-US" altLang="ko-KR" sz="1300" dirty="0"/>
              <a:t>(</a:t>
            </a:r>
            <a:r>
              <a:rPr lang="ko-KR" altLang="en-US" sz="1300" dirty="0"/>
              <a:t>예</a:t>
            </a:r>
            <a:r>
              <a:rPr lang="en-US" altLang="ko-KR" sz="1300" dirty="0"/>
              <a:t>: </a:t>
            </a:r>
            <a:r>
              <a:rPr lang="en-US" altLang="ko-KR" sz="1300" dirty="0" err="1"/>
              <a:t>ReLU</a:t>
            </a:r>
            <a:r>
              <a:rPr lang="en-US" altLang="ko-KR" sz="1300" dirty="0"/>
              <a:t>)</a:t>
            </a:r>
            <a:r>
              <a:rPr lang="ko-KR" altLang="en-US" sz="1300" dirty="0"/>
              <a:t>를 넣으면 단어 벡터들이 복잡하게 꺾이게 되어</a:t>
            </a:r>
            <a:r>
              <a:rPr lang="en-US" altLang="ko-KR" sz="1300" dirty="0"/>
              <a:t>, </a:t>
            </a:r>
            <a:r>
              <a:rPr lang="ko-KR" altLang="en-US" sz="1300" dirty="0"/>
              <a:t>단어 사이의 직관적인 선형 관계가 깨질 확률이 높다</a:t>
            </a:r>
            <a:r>
              <a:rPr lang="en-US" altLang="ko-KR" sz="1300" dirty="0"/>
              <a:t>.</a:t>
            </a:r>
          </a:p>
          <a:p>
            <a:pPr>
              <a:spcAft>
                <a:spcPts val="400"/>
              </a:spcAft>
            </a:pPr>
            <a:r>
              <a:rPr sz="1300" dirty="0">
                <a:latin typeface="맑은 고딕"/>
              </a:rPr>
              <a:t>2. </a:t>
            </a:r>
            <a:r>
              <a:rPr sz="1300" dirty="0" err="1">
                <a:latin typeface="맑은 고딕"/>
              </a:rPr>
              <a:t>최종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임베딩으로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사용하는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것은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W의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가중치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행렬이며</a:t>
            </a:r>
            <a:r>
              <a:rPr sz="1300" dirty="0">
                <a:latin typeface="맑은 고딕"/>
              </a:rPr>
              <a:t>, </a:t>
            </a:r>
            <a:r>
              <a:rPr sz="1300" dirty="0" err="1">
                <a:latin typeface="맑은 고딕"/>
              </a:rPr>
              <a:t>WT는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학습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보조용이다</a:t>
            </a:r>
            <a:r>
              <a:rPr sz="1300" dirty="0">
                <a:latin typeface="맑은 고딕"/>
              </a:rPr>
              <a:t>. </a:t>
            </a:r>
            <a:r>
              <a:rPr sz="1300" dirty="0" err="1">
                <a:latin typeface="맑은 고딕"/>
              </a:rPr>
              <a:t>모델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파라미터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수는</a:t>
            </a:r>
            <a:r>
              <a:rPr sz="1300" dirty="0">
                <a:latin typeface="맑은 고딕"/>
              </a:rPr>
              <a:t> V*D + D*V = 15*2 + 2*15 = 60개로 </a:t>
            </a:r>
            <a:r>
              <a:rPr sz="1300" dirty="0" err="1">
                <a:latin typeface="맑은 고딕"/>
              </a:rPr>
              <a:t>매우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작다</a:t>
            </a:r>
            <a:r>
              <a:rPr lang="en-US" sz="1300" dirty="0">
                <a:latin typeface="맑은 고딕"/>
              </a:rPr>
              <a:t>.</a:t>
            </a:r>
            <a:endParaRPr sz="1300" dirty="0">
              <a:latin typeface="맑은 고딕"/>
            </a:endParaRPr>
          </a:p>
        </p:txBody>
      </p:sp>
      <p:pic>
        <p:nvPicPr>
          <p:cNvPr id="4" name="그림 3" descr="The image shows a code snippet illustrating a simple neural network architecture for a Word2Vec model with input and output layers.&#10;&#10;AI 생성 콘텐츠는 정확하지 않을 수 있습니다.">
            <a:extLst>
              <a:ext uri="{FF2B5EF4-FFF2-40B4-BE49-F238E27FC236}">
                <a16:creationId xmlns:a16="http://schemas.microsoft.com/office/drawing/2014/main" id="{D18B9083-D167-E3A6-C1BB-D889F8754B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384" y="1302529"/>
            <a:ext cx="7968230" cy="2819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318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AD19002B-861E-CD1A-011A-3046D3025BE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CD36481-F321-C381-55CE-DD5E2AEFF68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_3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871446-625D-D879-6134-CC75B7D4C93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108145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4</a:t>
            </a:r>
            <a:endParaRPr lang="ko-KR" altLang="en-US" sz="24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AD640375-E53E-B20C-4AE8-32A07C8729C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294403" y="3528384"/>
            <a:ext cx="8223572" cy="20774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latin typeface="맑은 고딕"/>
              </a:rPr>
              <a:t>코드</a:t>
            </a:r>
            <a:r>
              <a:rPr sz="1400" b="1" dirty="0">
                <a:latin typeface="맑은 고딕"/>
              </a:rPr>
              <a:t> </a:t>
            </a:r>
            <a:r>
              <a:rPr sz="1400" b="1" dirty="0" err="1">
                <a:latin typeface="맑은 고딕"/>
              </a:rPr>
              <a:t>작성</a:t>
            </a:r>
            <a:r>
              <a:rPr sz="1400" b="1" dirty="0">
                <a:latin typeface="맑은 고딕"/>
              </a:rPr>
              <a:t> </a:t>
            </a:r>
            <a:r>
              <a:rPr sz="1400" b="1" dirty="0" err="1">
                <a:latin typeface="맑은 고딕"/>
              </a:rPr>
              <a:t>이유</a:t>
            </a:r>
            <a:endParaRPr sz="1400" b="1" dirty="0">
              <a:latin typeface="맑은 고딕"/>
            </a:endParaRPr>
          </a:p>
          <a:p>
            <a:pPr algn="l">
              <a:spcAft>
                <a:spcPts val="400"/>
              </a:spcAft>
            </a:pPr>
            <a:r>
              <a:rPr sz="1300" dirty="0">
                <a:latin typeface="맑은 고딕"/>
              </a:rPr>
              <a:t>1. </a:t>
            </a:r>
            <a:r>
              <a:rPr sz="1300" dirty="0" err="1">
                <a:latin typeface="맑은 고딕"/>
              </a:rPr>
              <a:t>출력은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어휘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전체에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대한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점수이므로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다중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클래스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분류로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보고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CrossEntropyLoss를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선택했다</a:t>
            </a:r>
            <a:r>
              <a:rPr sz="1300" dirty="0">
                <a:latin typeface="맑은 고딕"/>
              </a:rPr>
              <a:t>. 이 </a:t>
            </a:r>
            <a:r>
              <a:rPr sz="1300" dirty="0" err="1">
                <a:latin typeface="맑은 고딕"/>
              </a:rPr>
              <a:t>손실은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내부에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softmax가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포함되어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별도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softmax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호출이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필요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없다</a:t>
            </a:r>
            <a:r>
              <a:rPr sz="1300" dirty="0">
                <a:latin typeface="맑은 고딕"/>
              </a:rPr>
              <a:t>.</a:t>
            </a:r>
            <a:endParaRPr lang="en-US" sz="1300" dirty="0">
              <a:latin typeface="맑은 고딕"/>
            </a:endParaRPr>
          </a:p>
          <a:p>
            <a:pPr algn="l">
              <a:spcAft>
                <a:spcPts val="400"/>
              </a:spcAft>
            </a:pPr>
            <a:r>
              <a:rPr lang="en-US" sz="1300" dirty="0">
                <a:latin typeface="맑은 고딕"/>
              </a:rPr>
              <a:t>2</a:t>
            </a:r>
            <a:r>
              <a:rPr sz="1300" dirty="0">
                <a:latin typeface="맑은 고딕"/>
              </a:rPr>
              <a:t>. </a:t>
            </a:r>
            <a:r>
              <a:rPr sz="1300" dirty="0" err="1">
                <a:latin typeface="맑은 고딕"/>
              </a:rPr>
              <a:t>get_one_hot</a:t>
            </a:r>
            <a:r>
              <a:rPr sz="1300" dirty="0">
                <a:latin typeface="맑은 고딕"/>
              </a:rPr>
              <a:t>()</a:t>
            </a:r>
            <a:r>
              <a:rPr lang="ko-KR" altLang="en-US" sz="1300" dirty="0">
                <a:latin typeface="맑은 고딕"/>
              </a:rPr>
              <a:t>은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단어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인덱스를</a:t>
            </a:r>
            <a:r>
              <a:rPr lang="ko-KR" altLang="en-US" sz="1300" dirty="0">
                <a:latin typeface="맑은 고딕"/>
              </a:rPr>
              <a:t> </a:t>
            </a:r>
            <a:r>
              <a:rPr lang="ko-KR" altLang="en-US" sz="1300" dirty="0" err="1">
                <a:latin typeface="맑은 고딕"/>
              </a:rPr>
              <a:t>입력받아</a:t>
            </a:r>
            <a:r>
              <a:rPr sz="1300" dirty="0">
                <a:latin typeface="맑은 고딕"/>
              </a:rPr>
              <a:t> V차원 원-핫 </a:t>
            </a:r>
            <a:r>
              <a:rPr sz="1300" dirty="0" err="1">
                <a:latin typeface="맑은 고딕"/>
              </a:rPr>
              <a:t>벡터로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변환</a:t>
            </a:r>
            <a:r>
              <a:rPr lang="ko-KR" altLang="en-US" sz="1300" dirty="0">
                <a:latin typeface="맑은 고딕"/>
              </a:rPr>
              <a:t>하여 </a:t>
            </a:r>
            <a:r>
              <a:rPr sz="1300" dirty="0" err="1">
                <a:latin typeface="맑은 고딕"/>
              </a:rPr>
              <a:t>입력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형태</a:t>
            </a:r>
            <a:r>
              <a:rPr lang="ko-KR" altLang="en-US" sz="1300" dirty="0">
                <a:latin typeface="맑은 고딕"/>
              </a:rPr>
              <a:t>를</a:t>
            </a:r>
            <a:r>
              <a:rPr sz="1300" dirty="0">
                <a:latin typeface="맑은 고딕"/>
              </a:rPr>
              <a:t> 맞</a:t>
            </a:r>
            <a:r>
              <a:rPr lang="ko-KR" altLang="en-US" sz="1300" dirty="0">
                <a:latin typeface="맑은 고딕"/>
              </a:rPr>
              <a:t>춰주는 함수이</a:t>
            </a:r>
            <a:r>
              <a:rPr sz="1300" dirty="0">
                <a:latin typeface="맑은 고딕"/>
              </a:rPr>
              <a:t>다.</a:t>
            </a:r>
          </a:p>
          <a:p>
            <a:endParaRPr sz="1300" dirty="0">
              <a:latin typeface="맑은 고딕"/>
            </a:endParaRPr>
          </a:p>
          <a:p>
            <a:r>
              <a:rPr sz="1400" b="1" dirty="0" err="1">
                <a:latin typeface="맑은 고딕"/>
              </a:rPr>
              <a:t>분석</a:t>
            </a:r>
            <a:r>
              <a:rPr sz="1400" b="1" dirty="0">
                <a:latin typeface="맑은 고딕"/>
              </a:rPr>
              <a:t> </a:t>
            </a:r>
            <a:r>
              <a:rPr sz="1400" b="1" dirty="0" err="1">
                <a:latin typeface="맑은 고딕"/>
              </a:rPr>
              <a:t>결과</a:t>
            </a:r>
            <a:endParaRPr sz="1400" b="1" dirty="0">
              <a:latin typeface="맑은 고딕"/>
            </a:endParaRPr>
          </a:p>
          <a:p>
            <a:pPr>
              <a:spcAft>
                <a:spcPts val="400"/>
              </a:spcAft>
            </a:pPr>
            <a:r>
              <a:rPr sz="1300" dirty="0">
                <a:latin typeface="맑은 고딕"/>
              </a:rPr>
              <a:t>1. 원-핫 </a:t>
            </a:r>
            <a:r>
              <a:rPr sz="1300" dirty="0" err="1">
                <a:latin typeface="맑은 고딕"/>
              </a:rPr>
              <a:t>벡터를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W에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통과시키는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연산은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사실상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W의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해당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단어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행을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그대로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가져오는</a:t>
            </a:r>
            <a:r>
              <a:rPr sz="1300" dirty="0">
                <a:latin typeface="맑은 고딕"/>
              </a:rPr>
              <a:t> '</a:t>
            </a:r>
            <a:r>
              <a:rPr sz="1300" dirty="0" err="1">
                <a:latin typeface="맑은 고딕"/>
              </a:rPr>
              <a:t>lookup'과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동일하다</a:t>
            </a:r>
            <a:r>
              <a:rPr sz="1300" dirty="0">
                <a:latin typeface="맑은 고딕"/>
              </a:rPr>
              <a:t>. </a:t>
            </a:r>
            <a:r>
              <a:rPr sz="1300" dirty="0" err="1">
                <a:latin typeface="맑은 고딕"/>
              </a:rPr>
              <a:t>행렬곱처럼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보이지만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실제로는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임베딩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테이블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조회이다</a:t>
            </a:r>
            <a:r>
              <a:rPr sz="1300" dirty="0">
                <a:latin typeface="맑은 고딕"/>
              </a:rPr>
              <a:t>.</a:t>
            </a:r>
          </a:p>
          <a:p>
            <a:pPr>
              <a:spcAft>
                <a:spcPts val="400"/>
              </a:spcAft>
            </a:pPr>
            <a:r>
              <a:rPr lang="en-US" sz="1300" dirty="0">
                <a:latin typeface="맑은 고딕"/>
              </a:rPr>
              <a:t>2</a:t>
            </a:r>
            <a:r>
              <a:rPr sz="1300" dirty="0">
                <a:latin typeface="맑은 고딕"/>
              </a:rPr>
              <a:t>. </a:t>
            </a:r>
            <a:r>
              <a:rPr sz="1300" dirty="0" err="1">
                <a:latin typeface="맑은 고딕"/>
              </a:rPr>
              <a:t>출력에서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인덱스</a:t>
            </a:r>
            <a:r>
              <a:rPr sz="1300" dirty="0">
                <a:latin typeface="맑은 고딕"/>
              </a:rPr>
              <a:t> 0 </a:t>
            </a:r>
            <a:r>
              <a:rPr sz="1300" dirty="0" err="1">
                <a:latin typeface="맑은 고딕"/>
              </a:rPr>
              <a:t>위치만</a:t>
            </a:r>
            <a:r>
              <a:rPr sz="1300" dirty="0">
                <a:latin typeface="맑은 고딕"/>
              </a:rPr>
              <a:t> 1.0인 </a:t>
            </a:r>
            <a:r>
              <a:rPr sz="1300" dirty="0" err="1">
                <a:latin typeface="맑은 고딕"/>
              </a:rPr>
              <a:t>길이</a:t>
            </a:r>
            <a:r>
              <a:rPr sz="1300" dirty="0">
                <a:latin typeface="맑은 고딕"/>
              </a:rPr>
              <a:t> 15짜리 </a:t>
            </a:r>
            <a:r>
              <a:rPr sz="1300" dirty="0" err="1">
                <a:latin typeface="맑은 고딕"/>
              </a:rPr>
              <a:t>벡터가</a:t>
            </a:r>
            <a:r>
              <a:rPr sz="1300" dirty="0">
                <a:latin typeface="맑은 고딕"/>
              </a:rPr>
              <a:t> 잘 </a:t>
            </a:r>
            <a:r>
              <a:rPr sz="1300" dirty="0" err="1">
                <a:latin typeface="맑은 고딕"/>
              </a:rPr>
              <a:t>만들어졌음을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확인했다</a:t>
            </a:r>
            <a:r>
              <a:rPr sz="1300" dirty="0">
                <a:latin typeface="맑은 고딕"/>
              </a:rPr>
              <a:t>.</a:t>
            </a:r>
          </a:p>
        </p:txBody>
      </p:sp>
      <p:pic>
        <p:nvPicPr>
          <p:cNvPr id="4" name="그림 3" descr="The image depicts a code snippet in Python using PyTorch, showcasing a function for generating one-hot vectors and setting up an Adam optimizer with a learning rate of 0.01.&#10;&#10;AI 생성 콘텐츠는 정확하지 않을 수 있습니다.">
            <a:extLst>
              <a:ext uri="{FF2B5EF4-FFF2-40B4-BE49-F238E27FC236}">
                <a16:creationId xmlns:a16="http://schemas.microsoft.com/office/drawing/2014/main" id="{2D136267-4E13-4F44-782B-9415C39FE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775" y="1294574"/>
            <a:ext cx="7148538" cy="210686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4670088-999A-7450-76EA-255275F3B7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384" y="5984171"/>
            <a:ext cx="10698068" cy="447737"/>
          </a:xfrm>
          <a:prstGeom prst="rect">
            <a:avLst/>
          </a:prstGeom>
        </p:spPr>
      </p:pic>
      <p:pic>
        <p:nvPicPr>
          <p:cNvPr id="8" name="그림 7" descr="블랙, 어둠이(가) 표시된 사진&#10;&#10;자동 생성된 설명">
            <a:extLst>
              <a:ext uri="{FF2B5EF4-FFF2-40B4-BE49-F238E27FC236}">
                <a16:creationId xmlns:a16="http://schemas.microsoft.com/office/drawing/2014/main" id="{10AF97F7-12F7-F291-80AC-B6D54E323FE5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AD19002B-861E-CD1A-011A-3046D3025BE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CD36481-F321-C381-55CE-DD5E2AEFF68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_3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871446-625D-D879-6134-CC75B7D4C93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108145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5</a:t>
            </a:r>
            <a:endParaRPr lang="ko-KR" altLang="en-US" sz="24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AD640375-E53E-B20C-4AE8-32A07C8729C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05205" y="1563786"/>
            <a:ext cx="5792000" cy="30777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latin typeface="맑은 고딕"/>
              </a:rPr>
              <a:t>코드</a:t>
            </a:r>
            <a:r>
              <a:rPr sz="1400" b="1" dirty="0">
                <a:latin typeface="맑은 고딕"/>
              </a:rPr>
              <a:t> </a:t>
            </a:r>
            <a:r>
              <a:rPr sz="1400" b="1" dirty="0" err="1">
                <a:latin typeface="맑은 고딕"/>
              </a:rPr>
              <a:t>작성</a:t>
            </a:r>
            <a:r>
              <a:rPr sz="1400" b="1" dirty="0">
                <a:latin typeface="맑은 고딕"/>
              </a:rPr>
              <a:t> </a:t>
            </a:r>
            <a:r>
              <a:rPr sz="1400" b="1" dirty="0" err="1">
                <a:latin typeface="맑은 고딕"/>
              </a:rPr>
              <a:t>이유</a:t>
            </a:r>
            <a:endParaRPr sz="1400" b="1" dirty="0">
              <a:latin typeface="맑은 고딕"/>
            </a:endParaRPr>
          </a:p>
          <a:p>
            <a:pPr algn="l">
              <a:spcAft>
                <a:spcPts val="400"/>
              </a:spcAft>
            </a:pPr>
            <a:r>
              <a:rPr lang="en-US" altLang="ko-KR" sz="1300" dirty="0">
                <a:latin typeface="맑은 고딕"/>
              </a:rPr>
              <a:t>1. </a:t>
            </a:r>
            <a:r>
              <a:rPr lang="ko-KR" altLang="en-US" sz="1300" dirty="0">
                <a:latin typeface="맑은 고딕"/>
              </a:rPr>
              <a:t>각 </a:t>
            </a:r>
            <a:r>
              <a:rPr lang="en-US" altLang="ko-KR" sz="1300" dirty="0">
                <a:latin typeface="맑은 고딕"/>
              </a:rPr>
              <a:t>step</a:t>
            </a:r>
            <a:r>
              <a:rPr lang="ko-KR" altLang="en-US" sz="1300" dirty="0">
                <a:latin typeface="맑은 고딕"/>
              </a:rPr>
              <a:t>마다 중심단어의 </a:t>
            </a:r>
            <a:r>
              <a:rPr lang="ko-KR" altLang="en-US" sz="1300" dirty="0" err="1">
                <a:latin typeface="맑은 고딕"/>
              </a:rPr>
              <a:t>원핫벡터</a:t>
            </a:r>
            <a:r>
              <a:rPr lang="en-US" altLang="ko-KR" sz="1300" dirty="0">
                <a:latin typeface="맑은 고딕"/>
              </a:rPr>
              <a:t>(x), </a:t>
            </a:r>
            <a:r>
              <a:rPr lang="ko-KR" altLang="en-US" sz="1300" dirty="0">
                <a:latin typeface="맑은 고딕"/>
              </a:rPr>
              <a:t>실제 정답</a:t>
            </a:r>
            <a:r>
              <a:rPr lang="en-US" altLang="ko-KR" sz="1300" dirty="0">
                <a:latin typeface="맑은 고딕"/>
              </a:rPr>
              <a:t>(</a:t>
            </a:r>
            <a:r>
              <a:rPr lang="en-US" altLang="ko-KR" sz="1300" dirty="0" err="1">
                <a:latin typeface="맑은 고딕"/>
              </a:rPr>
              <a:t>y_true</a:t>
            </a:r>
            <a:r>
              <a:rPr lang="en-US" altLang="ko-KR" sz="1300" dirty="0">
                <a:latin typeface="맑은 고딕"/>
              </a:rPr>
              <a:t>), </a:t>
            </a:r>
            <a:r>
              <a:rPr lang="en-US" sz="1300" dirty="0">
                <a:latin typeface="맑은 고딕"/>
              </a:rPr>
              <a:t>X</a:t>
            </a:r>
            <a:r>
              <a:rPr lang="ko-KR" altLang="en-US" sz="1300" dirty="0">
                <a:latin typeface="맑은 고딕"/>
              </a:rPr>
              <a:t>에 대한 모델의 예측</a:t>
            </a:r>
            <a:r>
              <a:rPr lang="en-US" altLang="ko-KR" sz="1300" dirty="0">
                <a:latin typeface="맑은 고딕"/>
              </a:rPr>
              <a:t>(</a:t>
            </a:r>
            <a:r>
              <a:rPr lang="en-US" altLang="ko-KR" sz="1300" dirty="0" err="1">
                <a:latin typeface="맑은 고딕"/>
              </a:rPr>
              <a:t>y_pred</a:t>
            </a:r>
            <a:r>
              <a:rPr lang="en-US" altLang="ko-KR" sz="1300" dirty="0">
                <a:latin typeface="맑은 고딕"/>
              </a:rPr>
              <a:t>)</a:t>
            </a:r>
            <a:r>
              <a:rPr lang="ko-KR" altLang="en-US" sz="1300" dirty="0">
                <a:latin typeface="맑은 고딕"/>
              </a:rPr>
              <a:t>를 생성하여 모델을 훈련한다</a:t>
            </a:r>
            <a:r>
              <a:rPr lang="en-US" altLang="ko-KR" sz="1300" dirty="0">
                <a:latin typeface="맑은 고딕"/>
              </a:rPr>
              <a:t>. Loss</a:t>
            </a:r>
            <a:r>
              <a:rPr lang="ko-KR" altLang="en-US" sz="1300" dirty="0">
                <a:latin typeface="맑은 고딕"/>
              </a:rPr>
              <a:t>를 줄이는 방향으로 역전파를 통해 가중치를 미세 조정한다</a:t>
            </a:r>
            <a:r>
              <a:rPr lang="en-US" altLang="ko-KR" sz="1300" dirty="0">
                <a:latin typeface="맑은 고딕"/>
              </a:rPr>
              <a:t>.</a:t>
            </a:r>
            <a:endParaRPr sz="1300" dirty="0">
              <a:latin typeface="맑은 고딕"/>
            </a:endParaRPr>
          </a:p>
          <a:p>
            <a:pPr algn="l">
              <a:spcAft>
                <a:spcPts val="400"/>
              </a:spcAft>
            </a:pPr>
            <a:r>
              <a:rPr sz="1300" dirty="0">
                <a:latin typeface="맑은 고딕"/>
              </a:rPr>
              <a:t>2. </a:t>
            </a:r>
            <a:r>
              <a:rPr sz="1300" dirty="0" err="1">
                <a:latin typeface="맑은 고딕"/>
              </a:rPr>
              <a:t>epoch마다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평균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loss를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기록해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학습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진행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상황을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확인하고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시각화하기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쉽도록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했다</a:t>
            </a:r>
            <a:r>
              <a:rPr sz="1300" dirty="0">
                <a:latin typeface="맑은 고딕"/>
              </a:rPr>
              <a:t>.</a:t>
            </a:r>
          </a:p>
          <a:p>
            <a:endParaRPr sz="1300" dirty="0">
              <a:latin typeface="맑은 고딕"/>
            </a:endParaRPr>
          </a:p>
          <a:p>
            <a:r>
              <a:rPr sz="1400" b="1" dirty="0" err="1">
                <a:latin typeface="맑은 고딕"/>
              </a:rPr>
              <a:t>분석</a:t>
            </a:r>
            <a:r>
              <a:rPr sz="1400" b="1" dirty="0">
                <a:latin typeface="맑은 고딕"/>
              </a:rPr>
              <a:t> </a:t>
            </a:r>
            <a:r>
              <a:rPr sz="1400" b="1" dirty="0" err="1">
                <a:latin typeface="맑은 고딕"/>
              </a:rPr>
              <a:t>결과</a:t>
            </a:r>
            <a:endParaRPr sz="1400" b="1" dirty="0">
              <a:latin typeface="맑은 고딕"/>
            </a:endParaRPr>
          </a:p>
          <a:p>
            <a:pPr>
              <a:spcAft>
                <a:spcPts val="400"/>
              </a:spcAft>
            </a:pPr>
            <a:r>
              <a:rPr sz="1300" dirty="0">
                <a:latin typeface="맑은 고딕"/>
              </a:rPr>
              <a:t>1. </a:t>
            </a:r>
            <a:r>
              <a:rPr sz="1300" dirty="0" err="1">
                <a:latin typeface="맑은 고딕"/>
              </a:rPr>
              <a:t>초기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loss는</a:t>
            </a:r>
            <a:r>
              <a:rPr sz="1300" dirty="0">
                <a:latin typeface="맑은 고딕"/>
              </a:rPr>
              <a:t> 약 2.71에서 </a:t>
            </a:r>
            <a:r>
              <a:rPr sz="1300" dirty="0" err="1">
                <a:latin typeface="맑은 고딕"/>
              </a:rPr>
              <a:t>시작해</a:t>
            </a:r>
            <a:r>
              <a:rPr sz="1300" dirty="0">
                <a:latin typeface="맑은 고딕"/>
              </a:rPr>
              <a:t> </a:t>
            </a:r>
            <a:r>
              <a:rPr lang="en-US" sz="1300" dirty="0">
                <a:latin typeface="맑은 고딕"/>
              </a:rPr>
              <a:t>4</a:t>
            </a:r>
            <a:r>
              <a:rPr sz="1300" dirty="0">
                <a:latin typeface="맑은 고딕"/>
              </a:rPr>
              <a:t>000 epoch </a:t>
            </a:r>
            <a:r>
              <a:rPr lang="ko-KR" altLang="en-US" sz="1300" dirty="0">
                <a:latin typeface="맑은 고딕"/>
              </a:rPr>
              <a:t>동안</a:t>
            </a:r>
            <a:r>
              <a:rPr sz="1300" dirty="0">
                <a:latin typeface="맑은 고딕"/>
              </a:rPr>
              <a:t> </a:t>
            </a:r>
            <a:r>
              <a:rPr lang="ko-KR" altLang="en-US" sz="1300" dirty="0">
                <a:latin typeface="맑은 고딕"/>
              </a:rPr>
              <a:t>약 </a:t>
            </a:r>
            <a:r>
              <a:rPr sz="1300" dirty="0">
                <a:latin typeface="맑은 고딕"/>
              </a:rPr>
              <a:t>1.14 </a:t>
            </a:r>
            <a:r>
              <a:rPr lang="ko-KR" altLang="en-US" sz="1300" dirty="0" err="1">
                <a:latin typeface="맑은 고딕"/>
              </a:rPr>
              <a:t>까지지속적으로</a:t>
            </a:r>
            <a:r>
              <a:rPr lang="ko-KR" altLang="en-US" sz="1300" dirty="0">
                <a:latin typeface="맑은 고딕"/>
              </a:rPr>
              <a:t> 감소하였다</a:t>
            </a:r>
            <a:r>
              <a:rPr lang="en-US" altLang="ko-KR" sz="1300" dirty="0">
                <a:latin typeface="맑은 고딕"/>
              </a:rPr>
              <a:t>.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모델이</a:t>
            </a:r>
            <a:r>
              <a:rPr sz="1300" dirty="0">
                <a:latin typeface="맑은 고딕"/>
              </a:rPr>
              <a:t> toy </a:t>
            </a:r>
            <a:r>
              <a:rPr sz="1300" dirty="0" err="1">
                <a:latin typeface="맑은 고딕"/>
              </a:rPr>
              <a:t>코퍼스의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가능한</a:t>
            </a:r>
            <a:r>
              <a:rPr sz="1300" dirty="0">
                <a:latin typeface="맑은 고딕"/>
              </a:rPr>
              <a:t> (target, context) </a:t>
            </a:r>
            <a:r>
              <a:rPr sz="1300" dirty="0" err="1">
                <a:latin typeface="맑은 고딕"/>
              </a:rPr>
              <a:t>분포를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거의</a:t>
            </a:r>
            <a:r>
              <a:rPr sz="1300" dirty="0">
                <a:latin typeface="맑은 고딕"/>
              </a:rPr>
              <a:t> 다 </a:t>
            </a:r>
            <a:r>
              <a:rPr sz="1300" dirty="0" err="1">
                <a:latin typeface="맑은 고딕"/>
              </a:rPr>
              <a:t>학습했음을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의미한다</a:t>
            </a:r>
            <a:r>
              <a:rPr sz="1300" dirty="0">
                <a:latin typeface="맑은 고딕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300" dirty="0">
                <a:latin typeface="맑은 고딕"/>
              </a:rPr>
              <a:t>2. </a:t>
            </a:r>
            <a:r>
              <a:rPr sz="1300" dirty="0" err="1">
                <a:latin typeface="맑은 고딕"/>
              </a:rPr>
              <a:t>loss가</a:t>
            </a:r>
            <a:r>
              <a:rPr sz="1300" dirty="0">
                <a:latin typeface="맑은 고딕"/>
              </a:rPr>
              <a:t> 0이 </a:t>
            </a:r>
            <a:r>
              <a:rPr sz="1300" dirty="0" err="1">
                <a:latin typeface="맑은 고딕"/>
              </a:rPr>
              <a:t>아니라</a:t>
            </a:r>
            <a:r>
              <a:rPr sz="1300" dirty="0">
                <a:latin typeface="맑은 고딕"/>
              </a:rPr>
              <a:t> 1.14 </a:t>
            </a:r>
            <a:r>
              <a:rPr sz="1300" dirty="0" err="1">
                <a:latin typeface="맑은 고딕"/>
              </a:rPr>
              <a:t>근처에서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멈추는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이유는</a:t>
            </a:r>
            <a:r>
              <a:rPr sz="1300" dirty="0">
                <a:latin typeface="맑은 고딕"/>
              </a:rPr>
              <a:t>, </a:t>
            </a:r>
            <a:r>
              <a:rPr sz="1300" dirty="0" err="1">
                <a:latin typeface="맑은 고딕"/>
              </a:rPr>
              <a:t>같은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target이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다수의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다른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context를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가지므로</a:t>
            </a:r>
            <a:r>
              <a:rPr sz="1300" dirty="0">
                <a:latin typeface="맑은 고딕"/>
              </a:rPr>
              <a:t>(예: 'is' → he/she/a/</a:t>
            </a:r>
            <a:r>
              <a:rPr sz="1300" dirty="0" err="1">
                <a:latin typeface="맑은 고딕"/>
              </a:rPr>
              <a:t>korea</a:t>
            </a:r>
            <a:r>
              <a:rPr sz="1300" dirty="0">
                <a:latin typeface="맑은 고딕"/>
              </a:rPr>
              <a:t>/</a:t>
            </a:r>
            <a:r>
              <a:rPr sz="1300" dirty="0" err="1">
                <a:latin typeface="맑은 고딕"/>
              </a:rPr>
              <a:t>japan</a:t>
            </a:r>
            <a:r>
              <a:rPr sz="1300" dirty="0">
                <a:latin typeface="맑은 고딕"/>
              </a:rPr>
              <a:t>…) 한 </a:t>
            </a:r>
            <a:r>
              <a:rPr sz="1300" dirty="0" err="1">
                <a:latin typeface="맑은 고딕"/>
              </a:rPr>
              <a:t>번의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예측으로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모든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정답을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동시에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맞출</a:t>
            </a:r>
            <a:r>
              <a:rPr sz="1300" dirty="0">
                <a:latin typeface="맑은 고딕"/>
              </a:rPr>
              <a:t> 수 </a:t>
            </a:r>
            <a:r>
              <a:rPr sz="1300" dirty="0" err="1">
                <a:latin typeface="맑은 고딕"/>
              </a:rPr>
              <a:t>없기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때문이다</a:t>
            </a:r>
            <a:r>
              <a:rPr sz="1300" dirty="0">
                <a:latin typeface="맑은 고딕"/>
              </a:rPr>
              <a:t>. </a:t>
            </a:r>
          </a:p>
        </p:txBody>
      </p:sp>
      <p:pic>
        <p:nvPicPr>
          <p:cNvPr id="4" name="그림 3" descr="A code snippet from a Python program using PyTorch to train a skip-gram model for natural language processing, displaying loss calculation and optimization during training.&#10;&#10;AI 생성 콘텐츠는 정확하지 않을 수 있습니다.">
            <a:extLst>
              <a:ext uri="{FF2B5EF4-FFF2-40B4-BE49-F238E27FC236}">
                <a16:creationId xmlns:a16="http://schemas.microsoft.com/office/drawing/2014/main" id="{2EDE65A4-EF42-6E56-715D-7AF944228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00" y="1302529"/>
            <a:ext cx="5255820" cy="5090904"/>
          </a:xfrm>
          <a:prstGeom prst="rect">
            <a:avLst/>
          </a:prstGeom>
        </p:spPr>
      </p:pic>
      <p:pic>
        <p:nvPicPr>
          <p:cNvPr id="7" name="그림 6" descr="The image displays a chart with epochs numbered from 0 to 4000 and corresponding loss values, showing a decreasing trend in loss as the number of epochs increases.&#10;&#10;AI 생성 콘텐츠는 정확하지 않을 수 있습니다.">
            <a:extLst>
              <a:ext uri="{FF2B5EF4-FFF2-40B4-BE49-F238E27FC236}">
                <a16:creationId xmlns:a16="http://schemas.microsoft.com/office/drawing/2014/main" id="{1B240B95-41E3-3FAC-1462-88FDFB06FB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5350" y="5062533"/>
            <a:ext cx="2905530" cy="1409897"/>
          </a:xfrm>
          <a:prstGeom prst="rect">
            <a:avLst/>
          </a:prstGeom>
        </p:spPr>
      </p:pic>
      <p:pic>
        <p:nvPicPr>
          <p:cNvPr id="8" name="그림 7" descr="블랙, 어둠이(가) 표시된 사진&#10;&#10;자동 생성된 설명">
            <a:extLst>
              <a:ext uri="{FF2B5EF4-FFF2-40B4-BE49-F238E27FC236}">
                <a16:creationId xmlns:a16="http://schemas.microsoft.com/office/drawing/2014/main" id="{3F2C4BC7-DCF0-A59E-2518-25091512F4BD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407E6-08E5-606E-AF3F-E320E074E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DC081FB6-1D35-E42A-8B57-CA76072C07C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1958A4-E165-2496-E176-6AFD3DECE65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_3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BDF413-57FD-B262-5FAC-3B01CE1CA6B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108145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5</a:t>
            </a:r>
            <a:endParaRPr lang="ko-KR" altLang="en-US" sz="24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F23B91DF-7520-EC8F-A0FE-50622ADA70D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 descr="The image shows a graph depicting a decreasing training loss over a series of epochs, suggesting improvement in a machine learning model's performance.&#10;&#10;AI 생성 콘텐츠는 정확하지 않을 수 있습니다.">
            <a:extLst>
              <a:ext uri="{FF2B5EF4-FFF2-40B4-BE49-F238E27FC236}">
                <a16:creationId xmlns:a16="http://schemas.microsoft.com/office/drawing/2014/main" id="{9AC96D54-F159-AFD9-A53A-02635BAD1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84" y="2735944"/>
            <a:ext cx="6581775" cy="3743325"/>
          </a:xfrm>
          <a:prstGeom prst="rect">
            <a:avLst/>
          </a:prstGeom>
        </p:spPr>
      </p:pic>
      <p:pic>
        <p:nvPicPr>
          <p:cNvPr id="8" name="그림 7" descr="The diagram displays a simple plot illustrating the training loss over multiple epochs, with a grid for reference and a title indicating the graph's purpose.&#10;&#10;AI 생성 콘텐츠는 정확하지 않을 수 있습니다.">
            <a:extLst>
              <a:ext uri="{FF2B5EF4-FFF2-40B4-BE49-F238E27FC236}">
                <a16:creationId xmlns:a16="http://schemas.microsoft.com/office/drawing/2014/main" id="{16132A84-24E2-F76D-ADAC-98136D4D78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385" y="1355410"/>
            <a:ext cx="3025562" cy="138053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5818AC7-2C2F-51C4-8EFF-02C79594556C}"/>
              </a:ext>
            </a:extLst>
          </p:cNvPr>
          <p:cNvSpPr txBox="1"/>
          <p:nvPr/>
        </p:nvSpPr>
        <p:spPr>
          <a:xfrm>
            <a:off x="5705205" y="1355410"/>
            <a:ext cx="5792000" cy="16055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latin typeface="맑은 고딕"/>
              </a:rPr>
              <a:t>코드</a:t>
            </a:r>
            <a:r>
              <a:rPr sz="1400" b="1" dirty="0">
                <a:latin typeface="맑은 고딕"/>
              </a:rPr>
              <a:t> </a:t>
            </a:r>
            <a:r>
              <a:rPr sz="1400" b="1" dirty="0" err="1">
                <a:latin typeface="맑은 고딕"/>
              </a:rPr>
              <a:t>작성</a:t>
            </a:r>
            <a:r>
              <a:rPr sz="1400" b="1" dirty="0">
                <a:latin typeface="맑은 고딕"/>
              </a:rPr>
              <a:t> </a:t>
            </a:r>
            <a:r>
              <a:rPr sz="1400" b="1" dirty="0" err="1">
                <a:latin typeface="맑은 고딕"/>
              </a:rPr>
              <a:t>이유</a:t>
            </a:r>
            <a:endParaRPr sz="1400" b="1" dirty="0">
              <a:latin typeface="맑은 고딕"/>
            </a:endParaRPr>
          </a:p>
          <a:p>
            <a:pPr algn="l">
              <a:spcAft>
                <a:spcPts val="400"/>
              </a:spcAft>
            </a:pPr>
            <a:r>
              <a:rPr lang="ko-KR" altLang="en-US" sz="1300" dirty="0">
                <a:latin typeface="맑은 고딕"/>
              </a:rPr>
              <a:t>모델 </a:t>
            </a:r>
            <a:r>
              <a:rPr lang="ko-KR" altLang="en-US" sz="1300" dirty="0" err="1">
                <a:latin typeface="맑은 고딕"/>
              </a:rPr>
              <a:t>학습시</a:t>
            </a:r>
            <a:r>
              <a:rPr lang="ko-KR" altLang="en-US" sz="1300" dirty="0">
                <a:latin typeface="맑은 고딕"/>
              </a:rPr>
              <a:t> </a:t>
            </a:r>
            <a:r>
              <a:rPr lang="ko-KR" altLang="en-US" sz="1300" dirty="0" err="1">
                <a:latin typeface="맑은 고딕"/>
              </a:rPr>
              <a:t>저장해놓았던</a:t>
            </a:r>
            <a:r>
              <a:rPr lang="ko-KR" altLang="en-US" sz="1300" dirty="0">
                <a:latin typeface="맑은 고딕"/>
              </a:rPr>
              <a:t> </a:t>
            </a:r>
            <a:r>
              <a:rPr lang="en-US" altLang="ko-KR" sz="1300" dirty="0">
                <a:latin typeface="맑은 고딕"/>
              </a:rPr>
              <a:t>Loss</a:t>
            </a:r>
            <a:r>
              <a:rPr lang="ko-KR" altLang="en-US" sz="1300" dirty="0">
                <a:latin typeface="맑은 고딕"/>
              </a:rPr>
              <a:t>를 통해 </a:t>
            </a:r>
            <a:r>
              <a:rPr lang="ko-KR" altLang="en-US" sz="1300" dirty="0" err="1">
                <a:latin typeface="맑은 고딕"/>
              </a:rPr>
              <a:t>에포크에</a:t>
            </a:r>
            <a:r>
              <a:rPr lang="ko-KR" altLang="en-US" sz="1300" dirty="0">
                <a:latin typeface="맑은 고딕"/>
              </a:rPr>
              <a:t> 따른 </a:t>
            </a:r>
            <a:r>
              <a:rPr lang="en-US" altLang="ko-KR" sz="1300" dirty="0">
                <a:latin typeface="맑은 고딕"/>
              </a:rPr>
              <a:t>Loss</a:t>
            </a:r>
            <a:r>
              <a:rPr lang="ko-KR" altLang="en-US" sz="1300" dirty="0">
                <a:latin typeface="맑은 고딕"/>
              </a:rPr>
              <a:t>를 </a:t>
            </a:r>
            <a:r>
              <a:rPr lang="ko-KR" altLang="en-US" sz="1300" dirty="0" err="1">
                <a:latin typeface="맑은 고딕"/>
              </a:rPr>
              <a:t>시각화하여</a:t>
            </a:r>
            <a:r>
              <a:rPr lang="ko-KR" altLang="en-US" sz="1300" dirty="0">
                <a:latin typeface="맑은 고딕"/>
              </a:rPr>
              <a:t> 그래프로 그려준다</a:t>
            </a:r>
            <a:r>
              <a:rPr lang="en-US" altLang="ko-KR" sz="1300" dirty="0">
                <a:latin typeface="맑은 고딕"/>
              </a:rPr>
              <a:t>. </a:t>
            </a:r>
            <a:endParaRPr sz="1300" dirty="0">
              <a:latin typeface="맑은 고딕"/>
            </a:endParaRPr>
          </a:p>
          <a:p>
            <a:endParaRPr sz="1300" dirty="0">
              <a:latin typeface="맑은 고딕"/>
            </a:endParaRPr>
          </a:p>
          <a:p>
            <a:r>
              <a:rPr sz="1400" b="1" dirty="0" err="1">
                <a:latin typeface="맑은 고딕"/>
              </a:rPr>
              <a:t>분석</a:t>
            </a:r>
            <a:r>
              <a:rPr sz="1400" b="1" dirty="0">
                <a:latin typeface="맑은 고딕"/>
              </a:rPr>
              <a:t> </a:t>
            </a:r>
            <a:r>
              <a:rPr sz="1400" b="1" dirty="0" err="1">
                <a:latin typeface="맑은 고딕"/>
              </a:rPr>
              <a:t>결과</a:t>
            </a:r>
            <a:endParaRPr lang="en-US" sz="1400" b="1" dirty="0">
              <a:latin typeface="맑은 고딕"/>
            </a:endParaRPr>
          </a:p>
          <a:p>
            <a:r>
              <a:rPr lang="ko-KR" altLang="en-US" sz="1400" dirty="0"/>
              <a:t>훈련 초기에 </a:t>
            </a:r>
            <a:r>
              <a:rPr lang="en-US" altLang="ko-KR" sz="1400" dirty="0"/>
              <a:t>Loss</a:t>
            </a:r>
            <a:r>
              <a:rPr lang="ko-KR" altLang="en-US" sz="1400" dirty="0"/>
              <a:t>값이 급격히 떨어지고</a:t>
            </a:r>
            <a:r>
              <a:rPr lang="en-US" altLang="ko-KR" sz="1400" dirty="0"/>
              <a:t>, </a:t>
            </a:r>
            <a:r>
              <a:rPr lang="ko-KR" altLang="en-US" sz="1400" dirty="0"/>
              <a:t>그 이후로는 서서히 줄어드는 것을 알 수 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pic>
        <p:nvPicPr>
          <p:cNvPr id="13" name="그림 12" descr="블랙, 어둠이(가) 표시된 사진&#10;&#10;자동 생성된 설명">
            <a:extLst>
              <a:ext uri="{FF2B5EF4-FFF2-40B4-BE49-F238E27FC236}">
                <a16:creationId xmlns:a16="http://schemas.microsoft.com/office/drawing/2014/main" id="{3A35F03C-F4A1-4B06-565E-7A3D95EE3E9D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384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AD19002B-861E-CD1A-011A-3046D3025BE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CD36481-F321-C381-55CE-DD5E2AEFF68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_3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871446-625D-D879-6134-CC75B7D4C93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1072345" cy="574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6</a:t>
            </a:r>
            <a:endParaRPr lang="ko-KR" altLang="en-US" sz="24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AD640375-E53E-B20C-4AE8-32A07C8729C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096000" y="1300000"/>
            <a:ext cx="5896000" cy="372922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latin typeface="맑은 고딕"/>
              </a:rPr>
              <a:t>코드</a:t>
            </a:r>
            <a:r>
              <a:rPr sz="1400" b="1" dirty="0">
                <a:latin typeface="맑은 고딕"/>
              </a:rPr>
              <a:t> </a:t>
            </a:r>
            <a:r>
              <a:rPr sz="1400" b="1" dirty="0" err="1">
                <a:latin typeface="맑은 고딕"/>
              </a:rPr>
              <a:t>작성</a:t>
            </a:r>
            <a:r>
              <a:rPr sz="1400" b="1" dirty="0">
                <a:latin typeface="맑은 고딕"/>
              </a:rPr>
              <a:t> </a:t>
            </a:r>
            <a:r>
              <a:rPr sz="1400" b="1" dirty="0" err="1">
                <a:latin typeface="맑은 고딕"/>
              </a:rPr>
              <a:t>이유</a:t>
            </a:r>
            <a:endParaRPr sz="1400" b="1" dirty="0">
              <a:latin typeface="맑은 고딕"/>
            </a:endParaRPr>
          </a:p>
          <a:p>
            <a:pPr>
              <a:spcAft>
                <a:spcPts val="400"/>
              </a:spcAft>
            </a:pPr>
            <a:r>
              <a:rPr sz="1300" dirty="0">
                <a:latin typeface="맑은 고딕"/>
              </a:rPr>
              <a:t>1. </a:t>
            </a:r>
            <a:r>
              <a:rPr sz="1300" dirty="0" err="1">
                <a:latin typeface="맑은 고딕"/>
              </a:rPr>
              <a:t>학습된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W의</a:t>
            </a:r>
            <a:r>
              <a:rPr sz="1300" dirty="0">
                <a:latin typeface="맑은 고딕"/>
              </a:rPr>
              <a:t> 행 </a:t>
            </a:r>
            <a:r>
              <a:rPr sz="1300" dirty="0" err="1">
                <a:latin typeface="맑은 고딕"/>
              </a:rPr>
              <a:t>벡터가</a:t>
            </a:r>
            <a:r>
              <a:rPr sz="1300" dirty="0">
                <a:latin typeface="맑은 고딕"/>
              </a:rPr>
              <a:t> 곧 </a:t>
            </a:r>
            <a:r>
              <a:rPr sz="1300" dirty="0" err="1">
                <a:latin typeface="맑은 고딕"/>
              </a:rPr>
              <a:t>단어의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임베딩이므로</a:t>
            </a:r>
            <a:r>
              <a:rPr sz="1300" dirty="0">
                <a:latin typeface="맑은 고딕"/>
              </a:rPr>
              <a:t> </a:t>
            </a:r>
            <a:r>
              <a:rPr lang="ko-KR" altLang="en-US" sz="1300" dirty="0">
                <a:latin typeface="맑은 고딕"/>
              </a:rPr>
              <a:t>가중치 행렬 </a:t>
            </a:r>
            <a:r>
              <a:rPr lang="en-US" altLang="ko-KR" sz="1300" dirty="0" err="1">
                <a:latin typeface="맑은 고딕"/>
              </a:rPr>
              <a:t>W</a:t>
            </a:r>
            <a:r>
              <a:rPr sz="1300" dirty="0" err="1">
                <a:latin typeface="맑은 고딕"/>
              </a:rPr>
              <a:t>를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numpy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배열로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변환했다</a:t>
            </a:r>
            <a:r>
              <a:rPr sz="1300" dirty="0">
                <a:latin typeface="맑은 고딕"/>
              </a:rPr>
              <a:t>. </a:t>
            </a:r>
            <a:r>
              <a:rPr lang="en-US" sz="1300" dirty="0" err="1"/>
              <a:t>PyTorch</a:t>
            </a:r>
            <a:r>
              <a:rPr lang="ko-KR" altLang="en-US" sz="1300" dirty="0"/>
              <a:t>의 </a:t>
            </a:r>
            <a:r>
              <a:rPr lang="en-US" sz="1300" dirty="0" err="1"/>
              <a:t>nn.Linear</a:t>
            </a:r>
            <a:r>
              <a:rPr lang="ko-KR" altLang="en-US" sz="1300" dirty="0"/>
              <a:t>는 내부적으로 가중치 행렬을 </a:t>
            </a:r>
            <a:r>
              <a:rPr lang="en-US" altLang="ko-KR" sz="1300" dirty="0"/>
              <a:t>(</a:t>
            </a:r>
            <a:r>
              <a:rPr lang="en-US" sz="1300" dirty="0"/>
              <a:t>D, V) </a:t>
            </a:r>
            <a:r>
              <a:rPr lang="ko-KR" altLang="en-US" sz="1300" dirty="0"/>
              <a:t>순서로 저장하기 때문에 </a:t>
            </a:r>
            <a:r>
              <a:rPr sz="1300" dirty="0">
                <a:latin typeface="맑은 고딕"/>
              </a:rPr>
              <a:t>.</a:t>
            </a:r>
            <a:r>
              <a:rPr sz="1300" dirty="0" err="1">
                <a:latin typeface="맑은 고딕"/>
              </a:rPr>
              <a:t>T를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취해</a:t>
            </a:r>
            <a:r>
              <a:rPr sz="1300" dirty="0">
                <a:latin typeface="맑은 고딕"/>
              </a:rPr>
              <a:t> (V, D) </a:t>
            </a:r>
            <a:r>
              <a:rPr sz="1300" dirty="0" err="1">
                <a:latin typeface="맑은 고딕"/>
              </a:rPr>
              <a:t>형태로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만든</a:t>
            </a:r>
            <a:r>
              <a:rPr sz="1300" dirty="0">
                <a:latin typeface="맑은 고딕"/>
              </a:rPr>
              <a:t> 뒤 </a:t>
            </a:r>
            <a:r>
              <a:rPr sz="1300" dirty="0" err="1">
                <a:latin typeface="맑은 고딕"/>
              </a:rPr>
              <a:t>단어별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좌표로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사용했다</a:t>
            </a:r>
            <a:r>
              <a:rPr sz="1300" dirty="0">
                <a:latin typeface="맑은 고딕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300" dirty="0">
                <a:latin typeface="맑은 고딕"/>
              </a:rPr>
              <a:t>2. </a:t>
            </a:r>
            <a:r>
              <a:rPr sz="1300" dirty="0" err="1">
                <a:latin typeface="맑은 고딕"/>
              </a:rPr>
              <a:t>embedding_size</a:t>
            </a:r>
            <a:r>
              <a:rPr sz="1300" dirty="0">
                <a:latin typeface="맑은 고딕"/>
              </a:rPr>
              <a:t>=2이므로 </a:t>
            </a:r>
            <a:r>
              <a:rPr sz="1300" dirty="0" err="1">
                <a:latin typeface="맑은 고딕"/>
              </a:rPr>
              <a:t>별도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차원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축소</a:t>
            </a:r>
            <a:r>
              <a:rPr sz="1300" dirty="0">
                <a:latin typeface="맑은 고딕"/>
              </a:rPr>
              <a:t>(PCA, t-SNE) </a:t>
            </a:r>
            <a:r>
              <a:rPr sz="1300" dirty="0" err="1">
                <a:latin typeface="맑은 고딕"/>
              </a:rPr>
              <a:t>없이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그대로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산점도로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시각화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가능하다</a:t>
            </a:r>
            <a:r>
              <a:rPr sz="1300" dirty="0">
                <a:latin typeface="맑은 고딕"/>
              </a:rPr>
              <a:t>.</a:t>
            </a:r>
          </a:p>
          <a:p>
            <a:endParaRPr sz="1300" dirty="0">
              <a:latin typeface="맑은 고딕"/>
            </a:endParaRPr>
          </a:p>
          <a:p>
            <a:r>
              <a:rPr sz="1400" b="1" dirty="0" err="1">
                <a:latin typeface="맑은 고딕"/>
              </a:rPr>
              <a:t>분석</a:t>
            </a:r>
            <a:r>
              <a:rPr sz="1400" b="1" dirty="0">
                <a:latin typeface="맑은 고딕"/>
              </a:rPr>
              <a:t> </a:t>
            </a:r>
            <a:r>
              <a:rPr sz="1400" b="1" dirty="0" err="1">
                <a:latin typeface="맑은 고딕"/>
              </a:rPr>
              <a:t>결과</a:t>
            </a:r>
            <a:endParaRPr sz="1400" b="1" dirty="0">
              <a:latin typeface="맑은 고딕"/>
            </a:endParaRPr>
          </a:p>
          <a:p>
            <a:pPr>
              <a:spcAft>
                <a:spcPts val="400"/>
              </a:spcAft>
            </a:pPr>
            <a:r>
              <a:rPr sz="1300" dirty="0">
                <a:latin typeface="맑은 고딕"/>
              </a:rPr>
              <a:t>1. </a:t>
            </a:r>
            <a:r>
              <a:rPr sz="1300" dirty="0" err="1">
                <a:latin typeface="맑은 고딕"/>
              </a:rPr>
              <a:t>결과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그래프에서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의미적으로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비슷한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단어가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같은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영역에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군집을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이루었다</a:t>
            </a:r>
            <a:r>
              <a:rPr sz="1300" dirty="0">
                <a:latin typeface="맑은 고딕"/>
              </a:rPr>
              <a:t>. </a:t>
            </a:r>
            <a:r>
              <a:rPr lang="ko-KR" altLang="en-US" sz="1300" dirty="0">
                <a:latin typeface="맑은 고딕"/>
              </a:rPr>
              <a:t>우측 상</a:t>
            </a:r>
            <a:r>
              <a:rPr sz="1300" dirty="0" err="1">
                <a:latin typeface="맑은 고딕"/>
              </a:rPr>
              <a:t>단에</a:t>
            </a:r>
            <a:r>
              <a:rPr sz="1300" dirty="0">
                <a:latin typeface="맑은 고딕"/>
              </a:rPr>
              <a:t> king/queen/man/woman </a:t>
            </a:r>
            <a:r>
              <a:rPr sz="1300" dirty="0" err="1">
                <a:latin typeface="맑은 고딕"/>
              </a:rPr>
              <a:t>같은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사람·성별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관련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단어가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모였고</a:t>
            </a:r>
            <a:r>
              <a:rPr sz="1300" dirty="0">
                <a:latin typeface="맑은 고딕"/>
              </a:rPr>
              <a:t>, </a:t>
            </a:r>
            <a:r>
              <a:rPr lang="ko-KR" altLang="en-US" sz="1300" dirty="0">
                <a:latin typeface="맑은 고딕"/>
              </a:rPr>
              <a:t>좌측 하</a:t>
            </a:r>
            <a:r>
              <a:rPr sz="1300" dirty="0" err="1">
                <a:latin typeface="맑은 고딕"/>
              </a:rPr>
              <a:t>단에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도시명</a:t>
            </a:r>
            <a:r>
              <a:rPr sz="1300" dirty="0">
                <a:latin typeface="맑은 고딕"/>
              </a:rPr>
              <a:t>(</a:t>
            </a:r>
            <a:r>
              <a:rPr sz="1300" dirty="0" err="1">
                <a:latin typeface="맑은 고딕"/>
              </a:rPr>
              <a:t>seoul</a:t>
            </a:r>
            <a:r>
              <a:rPr sz="1300" dirty="0">
                <a:latin typeface="맑은 고딕"/>
              </a:rPr>
              <a:t>/</a:t>
            </a:r>
            <a:r>
              <a:rPr lang="en-US" sz="1300" dirty="0">
                <a:latin typeface="맑은 고딕"/>
              </a:rPr>
              <a:t>T</a:t>
            </a:r>
            <a:r>
              <a:rPr sz="1300" dirty="0">
                <a:latin typeface="맑은 고딕"/>
              </a:rPr>
              <a:t>okyo/</a:t>
            </a:r>
            <a:r>
              <a:rPr sz="1300" dirty="0" err="1">
                <a:latin typeface="맑은 고딕"/>
              </a:rPr>
              <a:t>paris</a:t>
            </a:r>
            <a:r>
              <a:rPr sz="1300" dirty="0">
                <a:latin typeface="맑은 고딕"/>
              </a:rPr>
              <a:t>)과 </a:t>
            </a:r>
            <a:r>
              <a:rPr sz="1300" dirty="0" err="1">
                <a:latin typeface="맑은 고딕"/>
              </a:rPr>
              <a:t>대명사</a:t>
            </a:r>
            <a:r>
              <a:rPr sz="1300" dirty="0">
                <a:latin typeface="맑은 고딕"/>
              </a:rPr>
              <a:t>(he/she)가, </a:t>
            </a:r>
            <a:r>
              <a:rPr lang="ko-KR" altLang="en-US" sz="1300" dirty="0">
                <a:latin typeface="맑은 고딕"/>
              </a:rPr>
              <a:t>중심에 더 가까운 쪽에는 </a:t>
            </a:r>
            <a:r>
              <a:rPr sz="1300" dirty="0" err="1">
                <a:latin typeface="맑은 고딕"/>
              </a:rPr>
              <a:t>국가명</a:t>
            </a:r>
            <a:r>
              <a:rPr sz="1300" dirty="0">
                <a:latin typeface="맑은 고딕"/>
              </a:rPr>
              <a:t>(</a:t>
            </a:r>
            <a:r>
              <a:rPr sz="1300" dirty="0" err="1">
                <a:latin typeface="맑은 고딕"/>
              </a:rPr>
              <a:t>korea</a:t>
            </a:r>
            <a:r>
              <a:rPr sz="1300" dirty="0">
                <a:latin typeface="맑은 고딕"/>
              </a:rPr>
              <a:t>/</a:t>
            </a:r>
            <a:r>
              <a:rPr lang="en-US" sz="1300" dirty="0">
                <a:latin typeface="맑은 고딕"/>
              </a:rPr>
              <a:t>J</a:t>
            </a:r>
            <a:r>
              <a:rPr sz="1300" dirty="0">
                <a:latin typeface="맑은 고딕"/>
              </a:rPr>
              <a:t>apan/</a:t>
            </a:r>
            <a:r>
              <a:rPr lang="en-US" sz="1300" dirty="0">
                <a:latin typeface="맑은 고딕"/>
              </a:rPr>
              <a:t>F</a:t>
            </a:r>
            <a:r>
              <a:rPr sz="1300" dirty="0">
                <a:latin typeface="맑은 고딕"/>
              </a:rPr>
              <a:t>rance)이 </a:t>
            </a:r>
            <a:r>
              <a:rPr sz="1300" dirty="0" err="1">
                <a:latin typeface="맑은 고딕"/>
              </a:rPr>
              <a:t>모여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있다</a:t>
            </a:r>
            <a:r>
              <a:rPr sz="1300" dirty="0">
                <a:latin typeface="맑은 고딕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300" dirty="0">
                <a:latin typeface="맑은 고딕"/>
              </a:rPr>
              <a:t>2. </a:t>
            </a:r>
            <a:r>
              <a:rPr sz="1300" dirty="0" err="1">
                <a:latin typeface="맑은 고딕"/>
              </a:rPr>
              <a:t>조사·관사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역할의</a:t>
            </a:r>
            <a:r>
              <a:rPr sz="1300" dirty="0">
                <a:latin typeface="맑은 고딕"/>
              </a:rPr>
              <a:t> ＇is＇, ＇</a:t>
            </a:r>
            <a:r>
              <a:rPr sz="1300" dirty="0" err="1">
                <a:latin typeface="맑은 고딕"/>
              </a:rPr>
              <a:t>a＇는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원점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근처에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자리잡고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있는데</a:t>
            </a:r>
            <a:r>
              <a:rPr sz="1300" dirty="0">
                <a:latin typeface="맑은 고딕"/>
              </a:rPr>
              <a:t>, </a:t>
            </a:r>
            <a:r>
              <a:rPr sz="1300" dirty="0" err="1">
                <a:latin typeface="맑은 고딕"/>
              </a:rPr>
              <a:t>거의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모든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문장에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등장해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특정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카테고리에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치우치지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않은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결과로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해석된다</a:t>
            </a:r>
            <a:r>
              <a:rPr sz="1300" dirty="0">
                <a:latin typeface="맑은 고딕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300" dirty="0">
                <a:latin typeface="맑은 고딕"/>
              </a:rPr>
              <a:t>3. </a:t>
            </a:r>
            <a:r>
              <a:rPr lang="en-US" altLang="ko-KR" sz="1300" dirty="0"/>
              <a:t>2</a:t>
            </a:r>
            <a:r>
              <a:rPr lang="ko-KR" altLang="en-US" sz="1300" dirty="0"/>
              <a:t>차원 평면상에서 의미가 비슷한 단어들이 서로 가깝게 배치되거나 일정한 방향성을 갖는 경향을 보인다는 것을 알 수 있다</a:t>
            </a:r>
            <a:r>
              <a:rPr lang="en-US" altLang="ko-KR" sz="1300" dirty="0"/>
              <a:t>.</a:t>
            </a:r>
            <a:endParaRPr sz="1300" dirty="0">
              <a:latin typeface="맑은 고딕"/>
            </a:endParaRPr>
          </a:p>
        </p:txBody>
      </p:sp>
      <p:pic>
        <p:nvPicPr>
          <p:cNvPr id="7" name="그림 6" descr="The image displays a scatter plot of word embeddings, labeled with various words, representing their position in a two-dimensional space, with a title indicating it's a visualization of Word2Vec Skip-gram embeddings.&#10;&#10;AI 생성 콘텐츠는 정확하지 않을 수 있습니다.">
            <a:extLst>
              <a:ext uri="{FF2B5EF4-FFF2-40B4-BE49-F238E27FC236}">
                <a16:creationId xmlns:a16="http://schemas.microsoft.com/office/drawing/2014/main" id="{7FA9F970-367A-E75B-434B-41A53E24D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543" y="1277331"/>
            <a:ext cx="5780754" cy="1815042"/>
          </a:xfrm>
          <a:prstGeom prst="rect">
            <a:avLst/>
          </a:prstGeom>
        </p:spPr>
      </p:pic>
      <p:pic>
        <p:nvPicPr>
          <p:cNvPr id="15" name="그림 14" descr="The provided text appears to be a list of words and their associated numerical values, likely representing vector representations from a Word2Vec skip-gram embedding model.&#10;&#10;AI 생성 콘텐츠는 정확하지 않을 수 있습니다.">
            <a:extLst>
              <a:ext uri="{FF2B5EF4-FFF2-40B4-BE49-F238E27FC236}">
                <a16:creationId xmlns:a16="http://schemas.microsoft.com/office/drawing/2014/main" id="{74C6ABE5-2B83-5ED8-80CC-9E0A86BC9C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098" y="3264085"/>
            <a:ext cx="4052273" cy="3349879"/>
          </a:xfrm>
          <a:prstGeom prst="rect">
            <a:avLst/>
          </a:prstGeom>
        </p:spPr>
      </p:pic>
      <p:pic>
        <p:nvPicPr>
          <p:cNvPr id="16" name="그림 15" descr="블랙, 어둠이(가) 표시된 사진&#10;&#10;자동 생성된 설명">
            <a:extLst>
              <a:ext uri="{FF2B5EF4-FFF2-40B4-BE49-F238E27FC236}">
                <a16:creationId xmlns:a16="http://schemas.microsoft.com/office/drawing/2014/main" id="{295FFD9F-C58A-7F0F-A3F0-A7523F3D9C54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AD19002B-861E-CD1A-011A-3046D3025BE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CD36481-F321-C381-55CE-DD5E2AEFF68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_3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871446-625D-D879-6134-CC75B7D4C93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108145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7</a:t>
            </a:r>
            <a:endParaRPr lang="ko-KR" altLang="en-US" sz="24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AD640375-E53E-B20C-4AE8-32A07C8729C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00000" y="1300000"/>
            <a:ext cx="5792000" cy="32778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latin typeface="맑은 고딕"/>
              </a:rPr>
              <a:t>코드</a:t>
            </a:r>
            <a:r>
              <a:rPr sz="1400" b="1" dirty="0">
                <a:latin typeface="맑은 고딕"/>
              </a:rPr>
              <a:t> </a:t>
            </a:r>
            <a:r>
              <a:rPr sz="1400" b="1" dirty="0" err="1">
                <a:latin typeface="맑은 고딕"/>
              </a:rPr>
              <a:t>작성</a:t>
            </a:r>
            <a:r>
              <a:rPr sz="1400" b="1" dirty="0">
                <a:latin typeface="맑은 고딕"/>
              </a:rPr>
              <a:t> </a:t>
            </a:r>
            <a:r>
              <a:rPr sz="1400" b="1" dirty="0" err="1">
                <a:latin typeface="맑은 고딕"/>
              </a:rPr>
              <a:t>이유</a:t>
            </a:r>
            <a:endParaRPr sz="1400" b="1" dirty="0">
              <a:latin typeface="맑은 고딕"/>
            </a:endParaRPr>
          </a:p>
          <a:p>
            <a:pPr algn="l">
              <a:spcAft>
                <a:spcPts val="400"/>
              </a:spcAft>
            </a:pPr>
            <a:r>
              <a:rPr sz="1300" dirty="0">
                <a:latin typeface="맑은 고딕"/>
              </a:rPr>
              <a:t>1. </a:t>
            </a:r>
            <a:r>
              <a:rPr sz="1300" dirty="0" err="1">
                <a:latin typeface="맑은 고딕"/>
              </a:rPr>
              <a:t>embedding_size를</a:t>
            </a:r>
            <a:r>
              <a:rPr sz="1300" dirty="0">
                <a:latin typeface="맑은 고딕"/>
              </a:rPr>
              <a:t> </a:t>
            </a:r>
            <a:r>
              <a:rPr lang="en-US" sz="1300" dirty="0">
                <a:latin typeface="맑은 고딕"/>
              </a:rPr>
              <a:t>1</a:t>
            </a:r>
            <a:r>
              <a:rPr sz="1300" dirty="0">
                <a:latin typeface="맑은 고딕"/>
              </a:rPr>
              <a:t>0으로 </a:t>
            </a:r>
            <a:r>
              <a:rPr sz="1300" dirty="0" err="1">
                <a:latin typeface="맑은 고딕"/>
              </a:rPr>
              <a:t>늘려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표현력을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확장하고</a:t>
            </a:r>
            <a:r>
              <a:rPr sz="1300" dirty="0">
                <a:latin typeface="맑은 고딕"/>
              </a:rPr>
              <a:t>, </a:t>
            </a:r>
            <a:r>
              <a:rPr sz="1300" dirty="0" err="1">
                <a:latin typeface="맑은 고딕"/>
              </a:rPr>
              <a:t>window_size를</a:t>
            </a:r>
            <a:r>
              <a:rPr sz="1300" dirty="0">
                <a:latin typeface="맑은 고딕"/>
              </a:rPr>
              <a:t> </a:t>
            </a:r>
            <a:r>
              <a:rPr lang="en-US" sz="1300" dirty="0">
                <a:latin typeface="맑은 고딕"/>
              </a:rPr>
              <a:t>3</a:t>
            </a:r>
            <a:r>
              <a:rPr lang="ko-KR" altLang="en-US" sz="1300" dirty="0">
                <a:latin typeface="맑은 고딕"/>
              </a:rPr>
              <a:t>으</a:t>
            </a:r>
            <a:r>
              <a:rPr sz="1300" dirty="0">
                <a:latin typeface="맑은 고딕"/>
              </a:rPr>
              <a:t>로 </a:t>
            </a:r>
            <a:r>
              <a:rPr sz="1300" dirty="0" err="1">
                <a:latin typeface="맑은 고딕"/>
              </a:rPr>
              <a:t>늘려</a:t>
            </a:r>
            <a:r>
              <a:rPr sz="1300" dirty="0">
                <a:latin typeface="맑은 고딕"/>
              </a:rPr>
              <a:t> 더 </a:t>
            </a:r>
            <a:r>
              <a:rPr sz="1300" dirty="0" err="1">
                <a:latin typeface="맑은 고딕"/>
              </a:rPr>
              <a:t>넓은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문맥을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학습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신호로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사용했다</a:t>
            </a:r>
            <a:r>
              <a:rPr sz="1300" dirty="0">
                <a:latin typeface="맑은 고딕"/>
              </a:rPr>
              <a:t>. 두 </a:t>
            </a:r>
            <a:r>
              <a:rPr sz="1300" dirty="0" err="1">
                <a:latin typeface="맑은 고딕"/>
              </a:rPr>
              <a:t>변화가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학습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양상에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미치는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영향을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함께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관찰하려는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의도이다</a:t>
            </a:r>
            <a:r>
              <a:rPr sz="1300" dirty="0">
                <a:latin typeface="맑은 고딕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300" dirty="0">
                <a:latin typeface="맑은 고딕"/>
              </a:rPr>
              <a:t>2. </a:t>
            </a:r>
            <a:r>
              <a:rPr lang="en-US" sz="1300" dirty="0" err="1">
                <a:latin typeface="맑은 고딕"/>
              </a:rPr>
              <a:t>E</a:t>
            </a:r>
            <a:r>
              <a:rPr sz="1300" dirty="0" err="1">
                <a:latin typeface="맑은 고딕"/>
              </a:rPr>
              <a:t>poch는</a:t>
            </a:r>
            <a:r>
              <a:rPr sz="1300" dirty="0">
                <a:latin typeface="맑은 고딕"/>
              </a:rPr>
              <a:t> 5000→3000으로 </a:t>
            </a:r>
            <a:r>
              <a:rPr sz="1300" dirty="0" err="1">
                <a:latin typeface="맑은 고딕"/>
              </a:rPr>
              <a:t>줄여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학습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비용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변화도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같이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점검했다</a:t>
            </a:r>
            <a:r>
              <a:rPr sz="1300" dirty="0">
                <a:latin typeface="맑은 고딕"/>
              </a:rPr>
              <a:t>.</a:t>
            </a:r>
          </a:p>
          <a:p>
            <a:endParaRPr sz="1300" dirty="0">
              <a:latin typeface="맑은 고딕"/>
            </a:endParaRPr>
          </a:p>
          <a:p>
            <a:r>
              <a:rPr sz="1400" b="1" dirty="0" err="1">
                <a:latin typeface="맑은 고딕"/>
              </a:rPr>
              <a:t>분석</a:t>
            </a:r>
            <a:r>
              <a:rPr sz="1400" b="1" dirty="0">
                <a:latin typeface="맑은 고딕"/>
              </a:rPr>
              <a:t> </a:t>
            </a:r>
            <a:r>
              <a:rPr sz="1400" b="1" dirty="0" err="1">
                <a:latin typeface="맑은 고딕"/>
              </a:rPr>
              <a:t>결과</a:t>
            </a:r>
            <a:endParaRPr sz="1400" b="1" dirty="0">
              <a:latin typeface="맑은 고딕"/>
            </a:endParaRPr>
          </a:p>
          <a:p>
            <a:pPr>
              <a:spcAft>
                <a:spcPts val="400"/>
              </a:spcAft>
            </a:pPr>
            <a:r>
              <a:rPr sz="1300" dirty="0">
                <a:latin typeface="맑은 고딕"/>
              </a:rPr>
              <a:t>1. </a:t>
            </a:r>
            <a:r>
              <a:rPr sz="1300" dirty="0" err="1">
                <a:latin typeface="맑은 고딕"/>
              </a:rPr>
              <a:t>window_size</a:t>
            </a:r>
            <a:r>
              <a:rPr sz="1300" dirty="0">
                <a:latin typeface="맑은 고딕"/>
              </a:rPr>
              <a:t>=</a:t>
            </a:r>
            <a:r>
              <a:rPr lang="en-US" sz="1300" dirty="0">
                <a:latin typeface="맑은 고딕"/>
              </a:rPr>
              <a:t>3</a:t>
            </a:r>
            <a:r>
              <a:rPr sz="1300" dirty="0">
                <a:latin typeface="맑은 고딕"/>
              </a:rPr>
              <a:t>로 </a:t>
            </a:r>
            <a:r>
              <a:rPr sz="1300" dirty="0" err="1">
                <a:latin typeface="맑은 고딕"/>
              </a:rPr>
              <a:t>확장하니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학습</a:t>
            </a:r>
            <a:r>
              <a:rPr sz="1300" dirty="0">
                <a:latin typeface="맑은 고딕"/>
              </a:rPr>
              <a:t> 쌍</a:t>
            </a:r>
            <a:r>
              <a:rPr lang="ko-KR" altLang="en-US" sz="1300" dirty="0">
                <a:latin typeface="맑은 고딕"/>
              </a:rPr>
              <a:t>의 개수가 </a:t>
            </a:r>
            <a:r>
              <a:rPr sz="1300" dirty="0" err="1">
                <a:latin typeface="맑은 고딕"/>
              </a:rPr>
              <a:t>늘었다</a:t>
            </a:r>
            <a:r>
              <a:rPr sz="1300" dirty="0">
                <a:latin typeface="맑은 고딕"/>
              </a:rPr>
              <a:t>. </a:t>
            </a:r>
            <a:r>
              <a:rPr lang="ko-KR" altLang="en-US" sz="1300" dirty="0"/>
              <a:t>한 </a:t>
            </a:r>
            <a:r>
              <a:rPr lang="en-US" altLang="ko-KR" sz="1300" dirty="0"/>
              <a:t>target </a:t>
            </a:r>
            <a:r>
              <a:rPr lang="ko-KR" altLang="en-US" sz="1300" dirty="0"/>
              <a:t>단어가 예측해야 하는 </a:t>
            </a:r>
            <a:r>
              <a:rPr lang="en-US" altLang="ko-KR" sz="1300" dirty="0"/>
              <a:t>context</a:t>
            </a:r>
            <a:r>
              <a:rPr lang="ko-KR" altLang="en-US" sz="1300" dirty="0"/>
              <a:t>의 종류도 많아졌고</a:t>
            </a:r>
            <a:r>
              <a:rPr lang="en-US" altLang="ko-KR" sz="1300" dirty="0"/>
              <a:t>, </a:t>
            </a:r>
            <a:r>
              <a:rPr lang="ko-KR" altLang="en-US" sz="1300" dirty="0"/>
              <a:t>맞춰야 할 정답이 많아지면 각 정답에 할당되는 확률이 분산된다</a:t>
            </a:r>
            <a:r>
              <a:rPr lang="en-US" altLang="ko-KR" sz="1300" dirty="0"/>
              <a:t>.</a:t>
            </a:r>
            <a:r>
              <a:rPr lang="ko-KR" altLang="en-US" sz="1300" dirty="0"/>
              <a:t> 결과적으로 평균 </a:t>
            </a:r>
            <a:r>
              <a:rPr lang="en-US" altLang="ko-KR" sz="1300" dirty="0"/>
              <a:t>Loss</a:t>
            </a:r>
            <a:r>
              <a:rPr lang="ko-KR" altLang="en-US" sz="1300" dirty="0"/>
              <a:t>는 </a:t>
            </a:r>
            <a:r>
              <a:rPr lang="en-US" altLang="ko-KR" sz="1300" dirty="0"/>
              <a:t>Base Model</a:t>
            </a:r>
            <a:r>
              <a:rPr lang="ko-KR" altLang="en-US" sz="1300" dirty="0"/>
              <a:t>의 오차</a:t>
            </a:r>
            <a:r>
              <a:rPr lang="en-US" altLang="ko-KR" sz="1300" dirty="0"/>
              <a:t>(</a:t>
            </a:r>
            <a:r>
              <a:rPr lang="ko-KR" altLang="en-US" sz="1300" dirty="0"/>
              <a:t>약 </a:t>
            </a:r>
            <a:r>
              <a:rPr lang="en-US" altLang="ko-KR" sz="1300" dirty="0"/>
              <a:t>1.14)</a:t>
            </a:r>
            <a:r>
              <a:rPr lang="ko-KR" altLang="en-US" sz="1300" dirty="0"/>
              <a:t>보다 상승하였다</a:t>
            </a:r>
            <a:r>
              <a:rPr lang="en-US" altLang="ko-KR" sz="1300" dirty="0"/>
              <a:t>. </a:t>
            </a:r>
            <a:endParaRPr sz="1300" dirty="0">
              <a:latin typeface="맑은 고딕"/>
            </a:endParaRPr>
          </a:p>
          <a:p>
            <a:pPr>
              <a:spcAft>
                <a:spcPts val="400"/>
              </a:spcAft>
            </a:pPr>
            <a:r>
              <a:rPr sz="1300" dirty="0">
                <a:latin typeface="맑은 고딕"/>
              </a:rPr>
              <a:t>2. </a:t>
            </a:r>
            <a:r>
              <a:rPr lang="en-US" sz="1300" dirty="0">
                <a:latin typeface="맑은 고딕"/>
              </a:rPr>
              <a:t>L</a:t>
            </a:r>
            <a:r>
              <a:rPr sz="1300" dirty="0">
                <a:latin typeface="맑은 고딕"/>
              </a:rPr>
              <a:t>oss </a:t>
            </a:r>
            <a:r>
              <a:rPr sz="1300" dirty="0" err="1">
                <a:latin typeface="맑은 고딕"/>
              </a:rPr>
              <a:t>값이</a:t>
            </a:r>
            <a:r>
              <a:rPr sz="1300" dirty="0">
                <a:latin typeface="맑은 고딕"/>
              </a:rPr>
              <a:t> 더 </a:t>
            </a:r>
            <a:r>
              <a:rPr sz="1300" dirty="0" err="1">
                <a:latin typeface="맑은 고딕"/>
              </a:rPr>
              <a:t>크다고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해서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모델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품질이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나쁜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것은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아니다</a:t>
            </a:r>
            <a:r>
              <a:rPr sz="1300" dirty="0">
                <a:latin typeface="맑은 고딕"/>
              </a:rPr>
              <a:t>. </a:t>
            </a:r>
            <a:r>
              <a:rPr lang="en-US" sz="1300" dirty="0" err="1">
                <a:latin typeface="맑은 고딕"/>
              </a:rPr>
              <a:t>Embedding_size</a:t>
            </a:r>
            <a:r>
              <a:rPr lang="ko-KR" altLang="en-US" sz="1300" dirty="0">
                <a:latin typeface="맑은 고딕"/>
              </a:rPr>
              <a:t>의 </a:t>
            </a:r>
            <a:r>
              <a:rPr lang="ko-KR" altLang="en-US" sz="1300" dirty="0"/>
              <a:t>증가로 의미 표현 공간이 더 </a:t>
            </a:r>
            <a:r>
              <a:rPr lang="ko-KR" altLang="en-US" sz="1300" dirty="0" err="1"/>
              <a:t>풍부해져</a:t>
            </a:r>
            <a:r>
              <a:rPr lang="ko-KR" altLang="en-US" sz="1300" dirty="0"/>
              <a:t> 단어 간 미세한 차이까지 표현할 수 있게 되었다</a:t>
            </a:r>
            <a:r>
              <a:rPr lang="en-US" altLang="ko-KR" sz="1300" dirty="0"/>
              <a:t>.</a:t>
            </a:r>
            <a:r>
              <a:rPr lang="ko-KR" altLang="en-US" sz="1300" dirty="0"/>
              <a:t> </a:t>
            </a:r>
            <a:r>
              <a:rPr lang="en-US" altLang="ko-KR" sz="1300" dirty="0" err="1">
                <a:latin typeface="맑은 고딕"/>
              </a:rPr>
              <a:t>window_size</a:t>
            </a:r>
            <a:r>
              <a:rPr lang="ko-KR" altLang="en-US" sz="1300" dirty="0">
                <a:latin typeface="맑은 고딕"/>
              </a:rPr>
              <a:t>의 증가로 더 많은 단어 사이의 문맥을 학습할 수 있게 되었다</a:t>
            </a:r>
            <a:r>
              <a:rPr lang="en-US" altLang="ko-KR" sz="1300" dirty="0">
                <a:latin typeface="맑은 고딕"/>
              </a:rPr>
              <a:t>.</a:t>
            </a:r>
            <a:endParaRPr sz="1300" dirty="0">
              <a:latin typeface="맑은 고딕"/>
            </a:endParaRPr>
          </a:p>
        </p:txBody>
      </p:sp>
      <p:pic>
        <p:nvPicPr>
          <p:cNvPr id="17" name="그림 16" descr="The image appears to be a snippet of a code snippet or pseudocode, likely from a Python script for training a Word2Vec model, with parameters for embedding size, window size, and number of epochs.&#10;&#10;AI 생성 콘텐츠는 정확하지 않을 수 있습니다.">
            <a:extLst>
              <a:ext uri="{FF2B5EF4-FFF2-40B4-BE49-F238E27FC236}">
                <a16:creationId xmlns:a16="http://schemas.microsoft.com/office/drawing/2014/main" id="{742FB642-45FF-3B2C-8467-86773F3C1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36" y="1250124"/>
            <a:ext cx="5080380" cy="2746808"/>
          </a:xfrm>
          <a:prstGeom prst="rect">
            <a:avLst/>
          </a:prstGeom>
        </p:spPr>
      </p:pic>
      <p:pic>
        <p:nvPicPr>
          <p:cNvPr id="19" name="그림 18" descr="The image illustrates a Word2Vec loss comparison, showing that the tuned model has a lower average loss than the base model across various epochs.&#10;&#10;AI 생성 콘텐츠는 정확하지 않을 수 있습니다.">
            <a:extLst>
              <a:ext uri="{FF2B5EF4-FFF2-40B4-BE49-F238E27FC236}">
                <a16:creationId xmlns:a16="http://schemas.microsoft.com/office/drawing/2014/main" id="{3780C31F-63CE-CEF0-3C26-6514B72E54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36" y="3996932"/>
            <a:ext cx="3888774" cy="2514373"/>
          </a:xfrm>
          <a:prstGeom prst="rect">
            <a:avLst/>
          </a:prstGeom>
        </p:spPr>
      </p:pic>
      <p:pic>
        <p:nvPicPr>
          <p:cNvPr id="20" name="그림 19" descr="블랙, 어둠이(가) 표시된 사진&#10;&#10;자동 생성된 설명">
            <a:extLst>
              <a:ext uri="{FF2B5EF4-FFF2-40B4-BE49-F238E27FC236}">
                <a16:creationId xmlns:a16="http://schemas.microsoft.com/office/drawing/2014/main" id="{628C0F05-AFFC-DA76-C277-724F0C5C1A99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C3244-FC6C-9E5A-4D00-50642C715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896DA2B3-ADC8-E809-13D3-30CFEB79415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762929C-6CAE-014B-CF82-C3F6313B84B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_3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344697-BA32-FA25-9002-9B9CFF197F0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1368901" cy="574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7-1</a:t>
            </a:r>
            <a:endParaRPr lang="ko-KR" altLang="en-US" sz="24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A1399476-8933-48E2-9B06-1A6298EF99FF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7230451-E593-11B9-4D6F-4698A9B8ED36}"/>
              </a:ext>
            </a:extLst>
          </p:cNvPr>
          <p:cNvSpPr txBox="1"/>
          <p:nvPr/>
        </p:nvSpPr>
        <p:spPr>
          <a:xfrm>
            <a:off x="5588000" y="1300000"/>
            <a:ext cx="6404000" cy="31239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latin typeface="맑은 고딕"/>
              </a:rPr>
              <a:t>코드</a:t>
            </a:r>
            <a:r>
              <a:rPr sz="1400" b="1" dirty="0">
                <a:latin typeface="맑은 고딕"/>
              </a:rPr>
              <a:t> </a:t>
            </a:r>
            <a:r>
              <a:rPr sz="1400" b="1" dirty="0" err="1">
                <a:latin typeface="맑은 고딕"/>
              </a:rPr>
              <a:t>작성</a:t>
            </a:r>
            <a:r>
              <a:rPr sz="1400" b="1" dirty="0">
                <a:latin typeface="맑은 고딕"/>
              </a:rPr>
              <a:t> </a:t>
            </a:r>
            <a:r>
              <a:rPr sz="1400" b="1" dirty="0" err="1">
                <a:latin typeface="맑은 고딕"/>
              </a:rPr>
              <a:t>이유</a:t>
            </a:r>
            <a:endParaRPr sz="1400" b="1" dirty="0">
              <a:latin typeface="맑은 고딕"/>
            </a:endParaRPr>
          </a:p>
          <a:p>
            <a:r>
              <a:rPr lang="en-US" altLang="ko-KR" sz="1300" dirty="0"/>
              <a:t>1. t-SNE</a:t>
            </a:r>
            <a:r>
              <a:rPr lang="ko-KR" altLang="en-US" sz="1300" dirty="0"/>
              <a:t>는 데이터 간의 </a:t>
            </a:r>
            <a:r>
              <a:rPr lang="en-US" altLang="ko-KR" sz="1300" dirty="0"/>
              <a:t>‘</a:t>
            </a:r>
            <a:r>
              <a:rPr lang="ko-KR" altLang="en-US" sz="1300" dirty="0"/>
              <a:t>국소적 유사성</a:t>
            </a:r>
            <a:r>
              <a:rPr lang="en-US" altLang="ko-KR" sz="1300" dirty="0"/>
              <a:t>(Local Structure)’</a:t>
            </a:r>
            <a:r>
              <a:rPr lang="ko-KR" altLang="en-US" sz="1300" dirty="0"/>
              <a:t>을 보존하는 데 최적화되어 있다</a:t>
            </a:r>
            <a:r>
              <a:rPr lang="en-US" altLang="ko-KR" sz="1300" dirty="0"/>
              <a:t>. </a:t>
            </a:r>
            <a:r>
              <a:rPr lang="ko-KR" altLang="en-US" sz="1300" dirty="0"/>
              <a:t>즉</a:t>
            </a:r>
            <a:r>
              <a:rPr lang="en-US" altLang="ko-KR" sz="1300" dirty="0"/>
              <a:t>, 10</a:t>
            </a:r>
            <a:r>
              <a:rPr lang="ko-KR" altLang="en-US" sz="1300" dirty="0"/>
              <a:t>차원 공간에서 조금이라도 가까웠던 단어들을 </a:t>
            </a:r>
            <a:r>
              <a:rPr lang="en-US" altLang="ko-KR" sz="1300" dirty="0"/>
              <a:t>2</a:t>
            </a:r>
            <a:r>
              <a:rPr lang="ko-KR" altLang="en-US" sz="1300" dirty="0"/>
              <a:t>차원 평면에서 억지로라도 강하게 뭉쳐서</a:t>
            </a:r>
            <a:r>
              <a:rPr lang="en-US" altLang="ko-KR" sz="1300" dirty="0"/>
              <a:t>(Cluster) </a:t>
            </a:r>
            <a:r>
              <a:rPr lang="ko-KR" altLang="en-US" sz="1300" dirty="0"/>
              <a:t>보여주는 특징이 있다</a:t>
            </a:r>
            <a:r>
              <a:rPr lang="en-US" altLang="ko-KR" sz="1300" dirty="0"/>
              <a:t>.</a:t>
            </a:r>
          </a:p>
          <a:p>
            <a:r>
              <a:rPr lang="en-US" altLang="ko-KR" sz="1300" dirty="0"/>
              <a:t>2. Perplexity</a:t>
            </a:r>
            <a:r>
              <a:rPr lang="ko-KR" altLang="en-US" sz="1300" dirty="0"/>
              <a:t>는 한 점이 주변 몇 개의 이웃을 고려할지 결정하는 파라미터로</a:t>
            </a:r>
            <a:r>
              <a:rPr lang="en-US" altLang="ko-KR" sz="1300" dirty="0"/>
              <a:t>, </a:t>
            </a:r>
            <a:r>
              <a:rPr lang="ko-KR" altLang="en-US" sz="1300" dirty="0"/>
              <a:t>현재 규모가 작은 </a:t>
            </a:r>
            <a:r>
              <a:rPr lang="en-US" altLang="ko-KR" sz="1300" dirty="0"/>
              <a:t>Toy</a:t>
            </a:r>
            <a:r>
              <a:rPr lang="ko-KR" altLang="en-US" sz="1300" dirty="0"/>
              <a:t>코퍼스 이므로 작게</a:t>
            </a:r>
            <a:r>
              <a:rPr lang="en-US" altLang="ko-KR" sz="1300" dirty="0"/>
              <a:t>(3) </a:t>
            </a:r>
            <a:r>
              <a:rPr lang="ko-KR" altLang="en-US" sz="1300" dirty="0"/>
              <a:t>설정하였다</a:t>
            </a:r>
            <a:r>
              <a:rPr lang="en-US" altLang="ko-KR" sz="1300" dirty="0"/>
              <a:t>.</a:t>
            </a:r>
          </a:p>
          <a:p>
            <a:endParaRPr sz="1300" dirty="0">
              <a:latin typeface="맑은 고딕"/>
            </a:endParaRPr>
          </a:p>
          <a:p>
            <a:r>
              <a:rPr sz="1400" b="1" dirty="0" err="1">
                <a:latin typeface="맑은 고딕"/>
              </a:rPr>
              <a:t>분석</a:t>
            </a:r>
            <a:r>
              <a:rPr sz="1400" b="1" dirty="0">
                <a:latin typeface="맑은 고딕"/>
              </a:rPr>
              <a:t> </a:t>
            </a:r>
            <a:r>
              <a:rPr sz="1400" b="1" dirty="0" err="1">
                <a:latin typeface="맑은 고딕"/>
              </a:rPr>
              <a:t>결과</a:t>
            </a:r>
            <a:endParaRPr lang="en-US" sz="1400" b="1" dirty="0">
              <a:latin typeface="맑은 고딕"/>
            </a:endParaRPr>
          </a:p>
          <a:p>
            <a:r>
              <a:rPr lang="en-US" altLang="ko-KR" sz="1300" dirty="0"/>
              <a:t>1. </a:t>
            </a:r>
            <a:r>
              <a:rPr lang="en-US" altLang="ko-KR" sz="1300" dirty="0" err="1"/>
              <a:t>seoul</a:t>
            </a:r>
            <a:r>
              <a:rPr lang="en-US" altLang="ko-KR" sz="1300" dirty="0"/>
              <a:t>, Japan, </a:t>
            </a:r>
            <a:r>
              <a:rPr lang="en-US" altLang="ko-KR" sz="1300" dirty="0" err="1"/>
              <a:t>korea</a:t>
            </a:r>
            <a:r>
              <a:rPr lang="en-US" altLang="ko-KR" sz="1300" dirty="0"/>
              <a:t> </a:t>
            </a:r>
            <a:r>
              <a:rPr lang="ko-KR" altLang="en-US" sz="1300" dirty="0"/>
              <a:t>등 나라와 관련된 단어들이 많이 </a:t>
            </a:r>
            <a:r>
              <a:rPr lang="ko-KR" altLang="en-US" sz="1300" dirty="0" err="1"/>
              <a:t>뭉쳐있고</a:t>
            </a:r>
            <a:r>
              <a:rPr lang="en-US" altLang="ko-KR" sz="1300" dirty="0"/>
              <a:t>, queen, woman</a:t>
            </a:r>
            <a:r>
              <a:rPr lang="ko-KR" altLang="en-US" sz="1300" dirty="0"/>
              <a:t>과 같은 단어들이 많이 </a:t>
            </a:r>
            <a:r>
              <a:rPr lang="ko-KR" altLang="en-US" sz="1300" dirty="0" err="1"/>
              <a:t>뭉쳐있다</a:t>
            </a:r>
            <a:r>
              <a:rPr lang="en-US" altLang="ko-KR" sz="1300" dirty="0"/>
              <a:t>.</a:t>
            </a:r>
          </a:p>
          <a:p>
            <a:r>
              <a:rPr lang="en-US" sz="1300" dirty="0">
                <a:latin typeface="맑은 고딕"/>
              </a:rPr>
              <a:t>2. </a:t>
            </a:r>
            <a:r>
              <a:rPr lang="ko-KR" altLang="en-US" sz="1300" dirty="0">
                <a:latin typeface="맑은 고딕"/>
              </a:rPr>
              <a:t>하지만 </a:t>
            </a:r>
            <a:r>
              <a:rPr lang="en-US" altLang="ko-KR" sz="1300" dirty="0">
                <a:latin typeface="맑은 고딕"/>
              </a:rPr>
              <a:t>king-queen, man-woman</a:t>
            </a:r>
            <a:r>
              <a:rPr lang="ko-KR" altLang="en-US" sz="1300" dirty="0">
                <a:latin typeface="맑은 고딕"/>
              </a:rPr>
              <a:t>이 조금 </a:t>
            </a:r>
            <a:r>
              <a:rPr lang="ko-KR" altLang="en-US" sz="1300" dirty="0" err="1">
                <a:latin typeface="맑은 고딕"/>
              </a:rPr>
              <a:t>떨어져있다는</a:t>
            </a:r>
            <a:r>
              <a:rPr lang="ko-KR" altLang="en-US" sz="1300" dirty="0">
                <a:latin typeface="맑은 고딕"/>
              </a:rPr>
              <a:t> 것은 모델이 고차원 개념을 충분히 학습하지 못했다는 것을 의미하고</a:t>
            </a:r>
            <a:r>
              <a:rPr lang="en-US" altLang="ko-KR" sz="1300" dirty="0">
                <a:latin typeface="맑은 고딕"/>
              </a:rPr>
              <a:t>, </a:t>
            </a:r>
            <a:r>
              <a:rPr lang="ko-KR" altLang="en-US" sz="1300" dirty="0">
                <a:latin typeface="맑은 고딕"/>
              </a:rPr>
              <a:t>이것은 </a:t>
            </a:r>
            <a:r>
              <a:rPr lang="en-US" altLang="ko-KR" sz="1300" dirty="0">
                <a:latin typeface="맑은 고딕"/>
              </a:rPr>
              <a:t>toy </a:t>
            </a:r>
            <a:r>
              <a:rPr lang="ko-KR" altLang="en-US" sz="1300" dirty="0">
                <a:latin typeface="맑은 고딕"/>
              </a:rPr>
              <a:t>코퍼스의 데이터 양이 적기 때문인 것으로 추정된다</a:t>
            </a:r>
            <a:r>
              <a:rPr lang="en-US" altLang="ko-KR" sz="1300" dirty="0">
                <a:latin typeface="맑은 고딕"/>
              </a:rPr>
              <a:t>.</a:t>
            </a:r>
          </a:p>
          <a:p>
            <a:r>
              <a:rPr lang="en-US" sz="1300" dirty="0">
                <a:latin typeface="맑은 고딕"/>
              </a:rPr>
              <a:t>3. </a:t>
            </a:r>
            <a:r>
              <a:rPr lang="ko-KR" altLang="en-US" sz="1300" dirty="0">
                <a:latin typeface="맑은 고딕"/>
              </a:rPr>
              <a:t>따라서 모델의 성능을 높이기 위해서는 모델의 구조를 키우는 것보다 더 많은 양질의 데이터가 필요하다는 것을 보여준다</a:t>
            </a:r>
            <a:r>
              <a:rPr lang="en-US" altLang="ko-KR" sz="1300" dirty="0">
                <a:latin typeface="맑은 고딕"/>
              </a:rPr>
              <a:t>.</a:t>
            </a:r>
            <a:endParaRPr lang="en-US" sz="1300" dirty="0">
              <a:latin typeface="맑은 고딕"/>
            </a:endParaRPr>
          </a:p>
        </p:txBody>
      </p:sp>
      <p:pic>
        <p:nvPicPr>
          <p:cNvPr id="7" name="그림 6" descr="This image is a t-SNE (t-distributed Stochastic Neighbor Embedding) visualization displaying a 2D projection of a high-dimensional Word2Vec model, where terms related to cities (e.g., Seoul, Paris, Tokyo) and royalty (e.g., queen, king) are plotted, indicating their semantic proximity to each other.&#10;&#10;AI 생성 콘텐츠는 정확하지 않을 수 있습니다.">
            <a:extLst>
              <a:ext uri="{FF2B5EF4-FFF2-40B4-BE49-F238E27FC236}">
                <a16:creationId xmlns:a16="http://schemas.microsoft.com/office/drawing/2014/main" id="{6082C8A4-B78E-346F-92AE-5B953E124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84" y="3697351"/>
            <a:ext cx="3726573" cy="2972789"/>
          </a:xfrm>
          <a:prstGeom prst="rect">
            <a:avLst/>
          </a:prstGeom>
        </p:spPr>
      </p:pic>
      <p:pic>
        <p:nvPicPr>
          <p:cNvPr id="12" name="그림 11" descr="The image depicts a code snippet showcasing the process of dimensionality reduction of a 10-dimensional embedding using t-SNE, followed by a scatter plot visualization of the resulting 2D data points annotated with corresponding words.&#10;&#10;AI 생성 콘텐츠는 정확하지 않을 수 있습니다.">
            <a:extLst>
              <a:ext uri="{FF2B5EF4-FFF2-40B4-BE49-F238E27FC236}">
                <a16:creationId xmlns:a16="http://schemas.microsoft.com/office/drawing/2014/main" id="{0DA14927-C764-9E6D-B1A0-969D78C5D6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384" y="1300000"/>
            <a:ext cx="5177560" cy="2467320"/>
          </a:xfrm>
          <a:prstGeom prst="rect">
            <a:avLst/>
          </a:prstGeom>
        </p:spPr>
      </p:pic>
      <p:pic>
        <p:nvPicPr>
          <p:cNvPr id="13" name="그림 12" descr="블랙, 어둠이(가) 표시된 사진&#10;&#10;자동 생성된 설명">
            <a:extLst>
              <a:ext uri="{FF2B5EF4-FFF2-40B4-BE49-F238E27FC236}">
                <a16:creationId xmlns:a16="http://schemas.microsoft.com/office/drawing/2014/main" id="{443D33BC-9BC5-62B7-447E-7A24BB624A33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237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BDEE8323A701A94E84F6C6256C0785E3" ma:contentTypeVersion="4" ma:contentTypeDescription="새 문서를 만듭니다." ma:contentTypeScope="" ma:versionID="1732501790e058fd976f4dec6a73fa4d">
  <xsd:schema xmlns:xsd="http://www.w3.org/2001/XMLSchema" xmlns:xs="http://www.w3.org/2001/XMLSchema" xmlns:p="http://schemas.microsoft.com/office/2006/metadata/properties" xmlns:ns3="c82519a0-c5ed-48c9-8c99-b972c57ceecf" targetNamespace="http://schemas.microsoft.com/office/2006/metadata/properties" ma:root="true" ma:fieldsID="1f4d1805ef4cf520005b8d3e10a8f0e7" ns3:_="">
    <xsd:import namespace="c82519a0-c5ed-48c9-8c99-b972c57ceec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2519a0-c5ed-48c9-8c99-b972c57cee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CBC01B1-44B7-4455-AE05-6DF60F32AA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2519a0-c5ed-48c9-8c99-b972c57ceec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B2AF890-73B7-49AE-A5F6-D24E9616561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AC91D5-0D24-4FCD-9EBE-33DEF9F6E401}">
  <ds:schemaRefs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elements/1.1/"/>
    <ds:schemaRef ds:uri="http://purl.org/dc/dcmitype/"/>
    <ds:schemaRef ds:uri="http://purl.org/dc/terms/"/>
    <ds:schemaRef ds:uri="c82519a0-c5ed-48c9-8c99-b972c57ceecf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744</TotalTime>
  <Words>1212</Words>
  <Application>Microsoft Office PowerPoint</Application>
  <PresentationFormat>와이드스크린</PresentationFormat>
  <Paragraphs>91</Paragraphs>
  <Slides>10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KoPubWorld돋움체 Bold</vt:lpstr>
      <vt:lpstr>KoPubWorld돋움체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박훈</dc:creator>
  <cp:lastModifiedBy>김형규</cp:lastModifiedBy>
  <cp:revision>75</cp:revision>
  <dcterms:created xsi:type="dcterms:W3CDTF">2023-11-08T08:25:48Z</dcterms:created>
  <dcterms:modified xsi:type="dcterms:W3CDTF">2026-05-02T08:53:18Z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0x010100BDEE8323A701A94E84F6C6256C0785E3</vt:lpwstr>
  </property>
</Properties>
</file>