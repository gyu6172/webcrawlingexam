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7" r:id="rId5"/>
    <p:sldId id="270" r:id="rId6"/>
    <p:sldId id="267" r:id="rId7"/>
    <p:sldId id="268" r:id="rId8"/>
    <p:sldId id="269" r:id="rId9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74424" autoAdjust="0"/>
  </p:normalViewPr>
  <p:slideViewPr>
    <p:cSldViewPr snapToGrid="0">
      <p:cViewPr varScale="1">
        <p:scale>
          <a:sx n="111" d="100"/>
          <a:sy n="111" d="100"/>
        </p:scale>
        <p:origin x="20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0D947-0CA7-41F0-BCB5-BE015DE3DC7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3D7E0-A644-41B0-A320-3BB3B116A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108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C1C9-58FF-3604-3A04-BA4EDC40C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D863DF-FFFE-CE64-5E0E-66368A2A3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F21F5F-CDA7-65E3-19A3-FECE90212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F9D6D1-ED8E-AEEF-63EC-7501830BF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984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280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19D5D-A897-6E82-4609-309E55778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C943B2-EF0B-65D7-FFD9-F3FF715E3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56A3B1-D6C8-FC8C-1012-77D454E3F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C8B501-93B3-3DCB-78B4-CDE5CC091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962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71E75-A60A-FADD-A3A9-DC5E0244F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E50E01-1ABF-6EA5-5423-7593D0BD8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E92BDA-2D45-AAAA-2D70-39A424725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87377B-E199-C792-9588-EDD73B862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69477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1A400-4181-5E18-AA29-DCA88DB9F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057595-DE8A-B9E5-4BE8-19E12D535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CDCFCC-8F3B-E531-9728-36A2C4A27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B8ABA-990B-4839-A5CF-E9C60468A1E3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F394B-5607-EC5D-933B-AF5AC947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C5852C-17A5-AFC0-6D60-C3A2DB87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FB81-51BD-494E-9F66-72B38219C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1127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8F0C3-F54E-4A6B-AE03-943025AB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B7E57E-EFAF-5A5A-4636-2B68C062A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CDF17-552B-4823-DEC7-E4D79B7742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B8ABA-990B-4839-A5CF-E9C60468A1E3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8D90C8-D0DD-AF20-E9E9-879622771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952FF-B0C4-3236-9F27-17210563F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9FB81-51BD-494E-9F66-72B38219C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852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AE04B119-0882-9708-DB72-6EA38C619A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977" y="186393"/>
            <a:ext cx="720000" cy="72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64EF98A-8244-87A2-1295-C92E127935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281635" y="186393"/>
            <a:ext cx="719214" cy="72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317C51-7B27-AEB1-2B38-F3665016C2E2}"/>
              </a:ext>
            </a:extLst>
          </p:cNvPr>
          <p:cNvSpPr txBox="1">
            <a:spLocks/>
          </p:cNvSpPr>
          <p:nvPr/>
        </p:nvSpPr>
        <p:spPr>
          <a:xfrm>
            <a:off x="455186" y="2436862"/>
            <a:ext cx="109902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과제</a:t>
            </a:r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_3</a:t>
            </a:r>
          </a:p>
          <a:p>
            <a:pPr algn="r"/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Word2Vec_</a:t>
            </a: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구현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EF5F18-0381-63B7-5459-F9766831AC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790821" y="3564693"/>
            <a:ext cx="1654620" cy="19005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세종대학교 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데이터사이언스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학과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학번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22011831</a:t>
            </a:r>
          </a:p>
          <a:p>
            <a:pPr algn="r">
              <a:lnSpc>
                <a:spcPct val="150000"/>
              </a:lnSpc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이름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 김형규</a:t>
            </a:r>
            <a:endParaRPr lang="ko-KR" altLang="en-US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AECE80D-900C-97A8-98F6-8F0A42722D3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797358" y="3403924"/>
            <a:ext cx="10545812" cy="38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E038ADC-FCCB-A8B5-FBCC-9DEDD9436225}"/>
              </a:ext>
            </a:extLst>
          </p:cNvPr>
          <p:cNvSpPr txBox="1">
            <a:spLocks/>
          </p:cNvSpPr>
          <p:nvPr/>
        </p:nvSpPr>
        <p:spPr>
          <a:xfrm>
            <a:off x="676513" y="2054575"/>
            <a:ext cx="24721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2026-1 </a:t>
            </a:r>
            <a:r>
              <a:rPr lang="ko-KR" altLang="en-US" sz="20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텍스트마이닝</a:t>
            </a:r>
            <a:endParaRPr lang="ko-KR" altLang="en-US" sz="2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780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2ED28-05D3-283E-F787-9AC886BC8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95B66C03-C865-1DE3-2356-FC330A51BF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A253523-0994-01E9-3116-43B89349D8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C93DE2-A542-921D-5EE5-2C34DE318B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87CDEF-29D2-31D2-54DE-50E3CE19F7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250581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제출 관련 공지사항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07CA108-94B3-15C4-7C67-036A8300302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A1BEEA1-28E5-7848-0744-B43F3CA19B4F}"/>
              </a:ext>
            </a:extLst>
          </p:cNvPr>
          <p:cNvSpPr txBox="1"/>
          <p:nvPr/>
        </p:nvSpPr>
        <p:spPr>
          <a:xfrm>
            <a:off x="389204" y="1342961"/>
            <a:ext cx="11408899" cy="5182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제출 관련 공지사항 슬라이드는 제출 시 삭제</a:t>
            </a:r>
            <a:endParaRPr lang="en-US" altLang="ko-KR" sz="2400" dirty="0">
              <a:ln>
                <a:solidFill>
                  <a:schemeClr val="tx1">
                    <a:lumMod val="75000"/>
                    <a:lumOff val="25000"/>
                    <a:alpha val="15000"/>
                  </a:schemeClr>
                </a:solidFill>
              </a:ln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과제 제출일</a:t>
            </a:r>
            <a:endParaRPr lang="en-US" altLang="ko-KR" sz="2400" dirty="0">
              <a:ln>
                <a:solidFill>
                  <a:schemeClr val="tx1">
                    <a:lumMod val="75000"/>
                    <a:lumOff val="25000"/>
                    <a:alpha val="15000"/>
                  </a:schemeClr>
                </a:solidFill>
              </a:ln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과제</a:t>
            </a:r>
            <a:r>
              <a:rPr lang="en-US" altLang="ko-KR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3: 5</a:t>
            </a:r>
            <a:r>
              <a:rPr lang="ko-KR" altLang="en-US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월 </a:t>
            </a:r>
            <a:r>
              <a:rPr lang="en-US" altLang="ko-KR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7</a:t>
            </a:r>
            <a:r>
              <a:rPr lang="ko-KR" altLang="en-US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일 </a:t>
            </a:r>
            <a:r>
              <a:rPr lang="en-US" altLang="ko-KR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목</a:t>
            </a:r>
            <a:r>
              <a:rPr lang="en-US" altLang="ko-KR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오후 </a:t>
            </a:r>
            <a:r>
              <a:rPr lang="en-US" altLang="ko-KR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11</a:t>
            </a:r>
            <a:r>
              <a:rPr lang="ko-KR" altLang="en-US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 </a:t>
            </a:r>
            <a:r>
              <a:rPr lang="en-US" altLang="ko-KR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59</a:t>
            </a:r>
            <a:r>
              <a:rPr lang="ko-KR" altLang="en-US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분</a:t>
            </a:r>
            <a:endParaRPr lang="en-US" altLang="ko-KR" sz="2400" dirty="0">
              <a:ln>
                <a:solidFill>
                  <a:schemeClr val="tx1">
                    <a:lumMod val="75000"/>
                    <a:lumOff val="25000"/>
                    <a:alpha val="15000"/>
                  </a:schemeClr>
                </a:solidFill>
              </a:ln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과제 제출물</a:t>
            </a:r>
            <a:endParaRPr lang="en-US" altLang="ko-KR" sz="2400" dirty="0">
              <a:ln>
                <a:solidFill>
                  <a:schemeClr val="tx1">
                    <a:lumMod val="75000"/>
                    <a:lumOff val="25000"/>
                    <a:alpha val="15000"/>
                  </a:schemeClr>
                </a:solidFill>
              </a:ln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코드 완성한 </a:t>
            </a:r>
            <a:r>
              <a:rPr lang="en-US" altLang="ko-KR" dirty="0" err="1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ipynb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파일</a:t>
            </a:r>
            <a:endParaRPr lang="en-US" altLang="ko-KR" dirty="0">
              <a:ln>
                <a:solidFill>
                  <a:schemeClr val="tx1">
                    <a:lumMod val="75000"/>
                    <a:lumOff val="25000"/>
                    <a:alpha val="15000"/>
                  </a:schemeClr>
                </a:solidFill>
              </a:ln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파일명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“</a:t>
            </a:r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과제</a:t>
            </a: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_3_Word2Vec_</a:t>
            </a:r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구현</a:t>
            </a: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</a:t>
            </a:r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학번</a:t>
            </a: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000000</a:t>
            </a: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</a:t>
            </a:r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이름</a:t>
            </a: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000</a:t>
            </a: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.ipynb”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파일명이 위 형식에 맞지 않을 경우 감점</a:t>
            </a:r>
            <a:endParaRPr lang="en-US" altLang="ko-KR" b="1" dirty="0">
              <a:ln>
                <a:solidFill>
                  <a:schemeClr val="tx1">
                    <a:lumMod val="75000"/>
                    <a:lumOff val="25000"/>
                    <a:alpha val="15000"/>
                  </a:schemeClr>
                </a:solidFill>
              </a:ln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현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PPT </a:t>
            </a:r>
            <a:r>
              <a:rPr lang="ko-KR" altLang="en-US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양식을 활용하여 각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</a:t>
            </a:r>
            <a:r>
              <a:rPr lang="ko-KR" altLang="en-US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별로 진행 상황을 기록한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ppt </a:t>
            </a:r>
            <a:r>
              <a:rPr lang="ko-KR" altLang="en-US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파일을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PDF</a:t>
            </a:r>
            <a:r>
              <a:rPr lang="ko-KR" altLang="en-US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변환 후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제출</a:t>
            </a:r>
            <a:endParaRPr lang="en-US" altLang="ko-KR" dirty="0">
              <a:ln>
                <a:solidFill>
                  <a:schemeClr val="tx1">
                    <a:lumMod val="75000"/>
                    <a:lumOff val="25000"/>
                    <a:alpha val="15000"/>
                  </a:schemeClr>
                </a:solidFill>
              </a:ln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파일명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“</a:t>
            </a:r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과제</a:t>
            </a: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_3_Word2Vec_</a:t>
            </a:r>
            <a:r>
              <a:rPr lang="ko-KR" altLang="en-US" b="1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구현 </a:t>
            </a:r>
            <a:r>
              <a:rPr lang="en-US" altLang="ko-KR" b="1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</a:t>
            </a:r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학번</a:t>
            </a: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000000</a:t>
            </a: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</a:t>
            </a:r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이름</a:t>
            </a: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000</a:t>
            </a: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.pdf”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파일명이 위 형식에 맞지 않을 경우 감점</a:t>
            </a:r>
            <a:endParaRPr lang="en-US" altLang="ko-KR" b="1" dirty="0">
              <a:ln>
                <a:solidFill>
                  <a:schemeClr val="tx1">
                    <a:lumMod val="75000"/>
                    <a:lumOff val="25000"/>
                    <a:alpha val="15000"/>
                  </a:schemeClr>
                </a:solidFill>
              </a:ln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ko-KR" dirty="0">
              <a:ln>
                <a:solidFill>
                  <a:schemeClr val="tx1">
                    <a:lumMod val="75000"/>
                    <a:lumOff val="25000"/>
                    <a:alpha val="15000"/>
                  </a:schemeClr>
                </a:solidFill>
              </a:ln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694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AE04B119-0882-9708-DB72-6EA38C619A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64EF98A-8244-87A2-1295-C92E127935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317C51-7B27-AEB1-2B38-F3665016C2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EF5F18-0381-63B7-5459-F9766831AC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081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1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ACBF2D3-0DCF-D330-E0D0-5368C878106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code_ste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00" y="1300000"/>
            <a:ext cx="5800000" cy="2940216"/>
          </a:xfrm>
          <a:prstGeom prst="rect">
            <a:avLst/>
          </a:prstGeom>
        </p:spPr>
      </p:pic>
      <p:pic>
        <p:nvPicPr>
          <p:cNvPr id="13" name="Picture 12" descr="out_step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000" y="4340216"/>
            <a:ext cx="5800000" cy="12419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00000" y="1300000"/>
            <a:ext cx="579200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C00000"/>
                </a:solidFill>
                <a:latin typeface="맑은 고딕"/>
              </a:rPr>
              <a:t>코드 작성 이유</a:t>
            </a:r>
          </a:p>
          <a:p>
            <a:pPr algn="l">
              <a:spcAft>
                <a:spcPts val="400"/>
              </a:spcAft>
            </a:pPr>
            <a:r>
              <a:rPr sz="1300">
                <a:latin typeface="맑은 고딕"/>
              </a:rPr>
              <a:t>1. Word2Vec 학습은 단어를 정수 인덱스로 매핑한 사전이 필수이므로, 코퍼스를 토큰화하고 set()으로 중복을 제거해 word_dict / number_dict를 만들었다.</a:t>
            </a:r>
          </a:p>
          <a:p>
            <a:pPr algn="l">
              <a:spcAft>
                <a:spcPts val="400"/>
              </a:spcAft>
            </a:pPr>
            <a:r>
              <a:rPr sz="1300">
                <a:latin typeface="맑은 고딕"/>
              </a:rPr>
              <a:t>2. 이후 단계의 원-핫 벡터 차원과 출력층 크기가 모두 vocab_size에 의존하므로, 사전 구축이 가장 먼저 수행되어야 한다.</a:t>
            </a:r>
          </a:p>
          <a:p>
            <a:r>
              <a:t/>
            </a:r>
          </a:p>
          <a:p>
            <a:r>
              <a:rPr b="1" sz="2000">
                <a:solidFill>
                  <a:srgbClr val="C00000"/>
                </a:solidFill>
                <a:latin typeface="맑은 고딕"/>
              </a:rPr>
              <a:t>분석 결과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1. 총 어휘 수는 15개(vocab_size=15)로 매우 작은 toy 코퍼스이다. 작은 어휘는 학습 시간을 짧게 해주지만, 의미 관계가 형성되려면 동일 패턴이 여러 번 등장해야 한다.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2. 코퍼스 내에 'king/queen', 'man/woman', 'seoul/tokyo/paris' 같은 의미적 짝이 의도적으로 배치되어 있어, Skip-gram이 잘 학습되면 시각화에서 군집이 형성될 것이라 기대된다.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3. set() 자료형은 순서가 보장되지 않아 word_dict 인덱스가 실행마다 달라질 수 있는데, 이는 학습 결과 시각화 좌표에는 영향이 없고 단순히 인덱스 매핑만 바뀐다.</a:t>
            </a:r>
          </a:p>
        </p:txBody>
      </p:sp>
    </p:spTree>
    <p:extLst>
      <p:ext uri="{BB962C8B-B14F-4D97-AF65-F5344CB8AC3E}">
        <p14:creationId xmlns:p14="http://schemas.microsoft.com/office/powerpoint/2010/main" val="4063451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90A1-FB02-82FA-6DF9-B88035FC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8CC5F36A-29BD-9C58-7033-6DD96F8173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E9C1168-088E-F523-E3A9-7ED1D5EAAC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2365BD-3484-91D2-021C-B0F909ECA5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AA87D7-6DCE-1BA3-1043-2B3B12888C2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081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2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08C6BF8-8C82-380B-D6DF-D92D080C108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code_ste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00" y="1300000"/>
            <a:ext cx="5800000" cy="2725732"/>
          </a:xfrm>
          <a:prstGeom prst="rect">
            <a:avLst/>
          </a:prstGeom>
        </p:spPr>
      </p:pic>
      <p:pic>
        <p:nvPicPr>
          <p:cNvPr id="13" name="Picture 12" descr="out_step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000" y="4125732"/>
            <a:ext cx="5800000" cy="8679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00000" y="1300000"/>
            <a:ext cx="579200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C00000"/>
                </a:solidFill>
                <a:latin typeface="맑은 고딕"/>
              </a:rPr>
              <a:t>코드 작성 이유</a:t>
            </a:r>
          </a:p>
          <a:p>
            <a:pPr algn="l">
              <a:spcAft>
                <a:spcPts val="400"/>
              </a:spcAft>
            </a:pPr>
            <a:r>
              <a:rPr sz="1300">
                <a:latin typeface="맑은 고딕"/>
              </a:rPr>
              <a:t>1. Skip-gram은 중심 단어로 주변 단어를 예측하므로 (target, context) 쌍 자체가 학습 데이터가 된다. window_size 내의 인덱스를 순회해 자기 자신을 제외한 모든 주변 단어를 짝지어 주었다.</a:t>
            </a:r>
          </a:p>
          <a:p>
            <a:pPr algn="l">
              <a:spcAft>
                <a:spcPts val="400"/>
              </a:spcAft>
            </a:pPr>
            <a:r>
              <a:rPr sz="1300">
                <a:latin typeface="맑은 고딕"/>
              </a:rPr>
              <a:t>2. tokens[j]를 word_dict로 매핑해 인덱스 형태로 저장한 이유는 CrossEntropyLoss가 정답 라벨로 정수 인덱스를 요구하기 때문이다.</a:t>
            </a:r>
          </a:p>
          <a:p>
            <a:r>
              <a:t/>
            </a:r>
          </a:p>
          <a:p>
            <a:r>
              <a:rPr b="1" sz="2000">
                <a:solidFill>
                  <a:srgbClr val="C00000"/>
                </a:solidFill>
                <a:latin typeface="맑은 고딕"/>
              </a:rPr>
              <a:t>분석 결과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1. window_size=1이라는 좁은 윈도우에서도 7개 문장만으로 42개의 학습 쌍이 생성됐다. 같은 문장 안에서 (target, context)와 (context, target)이 모두 들어가 양방향 학습이 자연스럽게 이뤄진다.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2. 예: 'he is a king' → (he,is)(is,he)(is,a)(a,is)(a,king)(king,a). 'is'와 'a'가 거의 모든 문장에 등장해 학습 쌍에서 가장 자주 나타나며, 이는 일반적 의미를 갖는 단어가 어휘 공간 중심부에 위치하는 결과로 이어진다.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3. 윈도우가 작으면 직접 인접 단어만 학습하므로 의미 군집은 명확해지지만, 멀리 떨어진 단어 간 관계(예: 같은 문장의 첫 단어와 마지막 단어)는 직접적으로 학습되지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593422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79AAC-47A7-EBFB-295C-9CF54D33E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6471A8FE-CE04-842D-E7A1-2CBFA6E957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D19002B-861E-CD1A-011A-3046D3025B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D36481-F321-C381-55CE-DD5E2AEFF6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71446-625D-D879-6134-CC75B7D4C9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081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3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D640375-E53E-B20C-4AE8-32A07C8729C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code_step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00" y="1300000"/>
            <a:ext cx="5800000" cy="27257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00000" y="1300000"/>
            <a:ext cx="579200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C00000"/>
                </a:solidFill>
                <a:latin typeface="맑은 고딕"/>
              </a:rPr>
              <a:t>코드 작성 이유</a:t>
            </a:r>
          </a:p>
          <a:p>
            <a:pPr algn="l">
              <a:spcAft>
                <a:spcPts val="400"/>
              </a:spcAft>
            </a:pPr>
            <a:r>
              <a:rPr sz="1300">
                <a:latin typeface="맑은 고딕"/>
              </a:rPr>
              <a:t>1. Skip-gram은 본질적으로 V→D→V의 두 단 선형 변환이므로, bias 없는 두 개의 nn.Linear만으로 구현 가능하다. W는 입력층-은닉층(임베딩) 행렬, WT는 은닉층-출력층 행렬이다.</a:t>
            </a:r>
          </a:p>
          <a:p>
            <a:pPr algn="l">
              <a:spcAft>
                <a:spcPts val="400"/>
              </a:spcAft>
            </a:pPr>
            <a:r>
              <a:rPr sz="1300">
                <a:latin typeface="맑은 고딕"/>
              </a:rPr>
              <a:t>2. 임베딩 시각화를 2차원 평면에서 직접 확인하려고 embedding_size=2로 설정했다. 실 사용에서는 보통 100~300차원을 쓴다.</a:t>
            </a:r>
          </a:p>
          <a:p>
            <a:r>
              <a:t/>
            </a:r>
          </a:p>
          <a:p>
            <a:r>
              <a:rPr b="1" sz="2000">
                <a:solidFill>
                  <a:srgbClr val="C00000"/>
                </a:solidFill>
                <a:latin typeface="맑은 고딕"/>
              </a:rPr>
              <a:t>분석 결과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1. 은닉층에 비선형 활성화가 없는 점이 핵심이다. 이는 Word2Vec이 행렬 분해(matrix factorization) 관점으로 해석될 수 있는 이유와 직결된다.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2. 최종 임베딩으로 사용하는 것은 W의 가중치 행렬이며, WT는 학습 보조용이다. 모델 파라미터 수는 V*D + D*V = 15*2 + 2*15 = 60개로 매우 작다.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3. bias=False로 두는 이유는 원-핫 입력 + 단순 lookup 구조에서 bias가 단어별 임베딩 의미를 흐리기 때문이다.</a:t>
            </a:r>
          </a:p>
        </p:txBody>
      </p:sp>
    </p:spTree>
    <p:extLst>
      <p:ext uri="{BB962C8B-B14F-4D97-AF65-F5344CB8AC3E}">
        <p14:creationId xmlns:p14="http://schemas.microsoft.com/office/powerpoint/2010/main" val="295165523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6471A8FE-CE04-842D-E7A1-2CBFA6E957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D19002B-861E-CD1A-011A-3046D3025B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D36481-F321-C381-55CE-DD5E2AEFF6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71446-625D-D879-6134-CC75B7D4C9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081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4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D640375-E53E-B20C-4AE8-32A07C8729C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code_step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00" y="1300000"/>
            <a:ext cx="5800000" cy="1653313"/>
          </a:xfrm>
          <a:prstGeom prst="rect">
            <a:avLst/>
          </a:prstGeom>
        </p:spPr>
      </p:pic>
      <p:pic>
        <p:nvPicPr>
          <p:cNvPr id="13" name="Picture 12" descr="out_ste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00" y="3053313"/>
            <a:ext cx="5800000" cy="6854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00000" y="1300000"/>
            <a:ext cx="579200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C00000"/>
                </a:solidFill>
                <a:latin typeface="맑은 고딕"/>
              </a:rPr>
              <a:t>코드 작성 이유</a:t>
            </a:r>
          </a:p>
          <a:p>
            <a:pPr algn="l">
              <a:spcAft>
                <a:spcPts val="400"/>
              </a:spcAft>
            </a:pPr>
            <a:r>
              <a:rPr sz="1300">
                <a:latin typeface="맑은 고딕"/>
              </a:rPr>
              <a:t>1. 출력은 어휘 전체에 대한 점수이므로 다중 클래스 분류로 보고 CrossEntropyLoss를 선택했다. 이 손실은 내부에 softmax가 포함되어 별도 softmax 호출이 필요 없다.</a:t>
            </a:r>
          </a:p>
          <a:p>
            <a:pPr algn="l">
              <a:spcAft>
                <a:spcPts val="400"/>
              </a:spcAft>
            </a:pPr>
            <a:r>
              <a:rPr sz="1300">
                <a:latin typeface="맑은 고딕"/>
              </a:rPr>
              <a:t>2. Adam 옵티마이저는 작은 코퍼스에서도 학습률을 자동 조절해 빠르게 수렴하므로 채택했다.</a:t>
            </a:r>
          </a:p>
          <a:p>
            <a:pPr algn="l">
              <a:spcAft>
                <a:spcPts val="400"/>
              </a:spcAft>
            </a:pPr>
            <a:r>
              <a:rPr sz="1300">
                <a:latin typeface="맑은 고딕"/>
              </a:rPr>
              <a:t>3. get_one_hot()으로 단어 인덱스를 V차원 원-핫 벡터로 변환해야 nn.Linear의 입력 형태와 맞는다.</a:t>
            </a:r>
          </a:p>
          <a:p>
            <a:r>
              <a:t/>
            </a:r>
          </a:p>
          <a:p>
            <a:r>
              <a:rPr b="1" sz="2000">
                <a:solidFill>
                  <a:srgbClr val="C00000"/>
                </a:solidFill>
                <a:latin typeface="맑은 고딕"/>
              </a:rPr>
              <a:t>분석 결과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1. 원-핫 벡터를 W에 통과시키는 연산은 사실상 W의 해당 단어 행을 그대로 가져오는 'lookup'과 동일하다. 행렬곱처럼 보이지만 실제로는 임베딩 테이블 조회이다.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2. 실무에서는 이 비효율을 피하려고 nn.Embedding을 쓰지만, 본 과제는 원-핫 → Linear의 흐름을 명시적으로 보여주기 위한 교육적 구현이다.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3. 출력에서 인덱스 0 위치만 1.0인 길이 15짜리 벡터가 잘 만들어졌음을 확인했다.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6471A8FE-CE04-842D-E7A1-2CBFA6E957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D19002B-861E-CD1A-011A-3046D3025B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D36481-F321-C381-55CE-DD5E2AEFF6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71446-625D-D879-6134-CC75B7D4C9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081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5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D640375-E53E-B20C-4AE8-32A07C8729C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code_step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00" y="1300000"/>
            <a:ext cx="5800000" cy="3369183"/>
          </a:xfrm>
          <a:prstGeom prst="rect">
            <a:avLst/>
          </a:prstGeom>
        </p:spPr>
      </p:pic>
      <p:pic>
        <p:nvPicPr>
          <p:cNvPr id="13" name="Picture 12" descr="fig_loss_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00" y="4749183"/>
            <a:ext cx="3501634" cy="175081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00000" y="1300000"/>
            <a:ext cx="579200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C00000"/>
                </a:solidFill>
                <a:latin typeface="맑은 고딕"/>
              </a:rPr>
              <a:t>코드 작성 이유</a:t>
            </a:r>
          </a:p>
          <a:p>
            <a:pPr algn="l">
              <a:spcAft>
                <a:spcPts val="400"/>
              </a:spcAft>
            </a:pPr>
            <a:r>
              <a:rPr sz="1300">
                <a:latin typeface="맑은 고딕"/>
              </a:rPr>
              <a:t>1. 각 (target, context) 쌍마다 forward → loss → backward → step 흐름을 반복해 W, WT 가중치를 업데이트한다. zero_grad()로 이전 gradient를 초기화하지 않으면 누적되어 학습이 망가지므로 매 스텝에서 호출했다.</a:t>
            </a:r>
          </a:p>
          <a:p>
            <a:pPr algn="l">
              <a:spcAft>
                <a:spcPts val="400"/>
              </a:spcAft>
            </a:pPr>
            <a:r>
              <a:rPr sz="1300">
                <a:latin typeface="맑은 고딕"/>
              </a:rPr>
              <a:t>2. epoch마다 평균 loss를 기록해 학습 진행 상황을 확인하고 시각화하기 쉽도록 했다.</a:t>
            </a:r>
          </a:p>
          <a:p>
            <a:r>
              <a:t/>
            </a:r>
          </a:p>
          <a:p>
            <a:r>
              <a:rPr b="1" sz="2000">
                <a:solidFill>
                  <a:srgbClr val="C00000"/>
                </a:solidFill>
                <a:latin typeface="맑은 고딕"/>
              </a:rPr>
              <a:t>분석 결과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1. 초기 loss는 약 2.71에서 시작해 1000 epoch 만에 1.14 부근으로 빠르게 떨어진 뒤 거의 평탄해진다. 모델이 toy 코퍼스의 가능한 (target, context) 분포를 거의 다 학습했음을 의미한다.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2. loss가 0이 아니라 1.14 근처에서 멈추는 이유는, 같은 target이 다수의 다른 context를 가지므로(예: 'is' → he/she/a/korea/japan…) 한 번의 예측으로 모든 정답을 동시에 맞출 수 없기 때문이다. 이는 본질적인 cross-entropy 하한이다.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3. saddle 없이 매끄럽게 수렴하는 모습은 Adam의 적응형 학습률 덕분이며, SGD를 사용하면 더 흔들리고 수렴 속도도 느려질 가능성이 크다.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6471A8FE-CE04-842D-E7A1-2CBFA6E957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D19002B-861E-CD1A-011A-3046D3025B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D36481-F321-C381-55CE-DD5E2AEFF6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71446-625D-D879-6134-CC75B7D4C9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081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6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D640375-E53E-B20C-4AE8-32A07C8729C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code_step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00" y="1300000"/>
            <a:ext cx="4400000" cy="1742373"/>
          </a:xfrm>
          <a:prstGeom prst="rect">
            <a:avLst/>
          </a:prstGeom>
        </p:spPr>
      </p:pic>
      <p:pic>
        <p:nvPicPr>
          <p:cNvPr id="13" name="Picture 12" descr="fig_embedding_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00" y="3092373"/>
            <a:ext cx="4259534" cy="34076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00000" y="1300000"/>
            <a:ext cx="579200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C00000"/>
                </a:solidFill>
                <a:latin typeface="맑은 고딕"/>
              </a:rPr>
              <a:t>코드 작성 이유</a:t>
            </a:r>
          </a:p>
          <a:p>
            <a:pPr algn="l">
              <a:spcAft>
                <a:spcPts val="400"/>
              </a:spcAft>
            </a:pPr>
            <a:r>
              <a:rPr sz="1300">
                <a:latin typeface="맑은 고딕"/>
              </a:rPr>
              <a:t>1. 학습된 W의 행 벡터가 곧 단어의 임베딩이므로 model.W.weight.data를 numpy 배열로 변환했다. .T를 취해 (V, D) 형태로 만든 뒤 단어별 좌표로 사용했다.</a:t>
            </a:r>
          </a:p>
          <a:p>
            <a:pPr algn="l">
              <a:spcAft>
                <a:spcPts val="400"/>
              </a:spcAft>
            </a:pPr>
            <a:r>
              <a:rPr sz="1300">
                <a:latin typeface="맑은 고딕"/>
              </a:rPr>
              <a:t>2. embedding_size=2이므로 별도 차원 축소(PCA, t-SNE) 없이 그대로 산점도로 시각화 가능하다.</a:t>
            </a:r>
          </a:p>
          <a:p>
            <a:r>
              <a:t/>
            </a:r>
          </a:p>
          <a:p>
            <a:r>
              <a:rPr b="1" sz="2000">
                <a:solidFill>
                  <a:srgbClr val="C00000"/>
                </a:solidFill>
                <a:latin typeface="맑은 고딕"/>
              </a:rPr>
              <a:t>분석 결과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1. 결과 그래프에서 의미적으로 비슷한 단어가 같은 영역에 군집을 이루었다. 좌측 하단에 king/queen/man/woman 같은 사람·성별 관련 단어가 모였고, 우측 상단에 도시명(seoul/tokyo/paris)과 대명사(he/she)가, 우측 중앙에 국가명(korea/japan/france)이 모여 있다.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2. 조사·관사 역할의 'is', 'a'는 원점 근처에 자리잡고 있는데, 거의 모든 문장에 등장해 특정 카테고리에 치우치지 않은 결과로 해석된다.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3. 이러한 군집화는 Skip-gram이 분포 가설(distributional hypothesis: 비슷한 문맥에서 등장하는 단어는 비슷한 의미를 가진다)을 잘 반영했다는 직접적 증거이다.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6471A8FE-CE04-842D-E7A1-2CBFA6E957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D19002B-861E-CD1A-011A-3046D3025B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D36481-F321-C381-55CE-DD5E2AEFF6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_3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71446-625D-D879-6134-CC75B7D4C9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10814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7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D640375-E53E-B20C-4AE8-32A07C8729C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code_step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00" y="1300000"/>
            <a:ext cx="5800000" cy="2296764"/>
          </a:xfrm>
          <a:prstGeom prst="rect">
            <a:avLst/>
          </a:prstGeom>
        </p:spPr>
      </p:pic>
      <p:pic>
        <p:nvPicPr>
          <p:cNvPr id="13" name="Picture 12" descr="fig_loss_comp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00" y="3676764"/>
            <a:ext cx="5646472" cy="28232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00000" y="1300000"/>
            <a:ext cx="579200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C00000"/>
                </a:solidFill>
                <a:latin typeface="맑은 고딕"/>
              </a:rPr>
              <a:t>코드 작성 이유</a:t>
            </a:r>
          </a:p>
          <a:p>
            <a:pPr algn="l">
              <a:spcAft>
                <a:spcPts val="400"/>
              </a:spcAft>
            </a:pPr>
            <a:r>
              <a:rPr sz="1300">
                <a:latin typeface="맑은 고딕"/>
              </a:rPr>
              <a:t>1. embedding_size를 2→10으로 늘려 표현력을 확장하고, window_size를 1→2로 늘려 더 넓은 문맥을 학습 신호로 사용했다. 두 변화가 학습 양상에 미치는 영향을 함께 관찰하려는 의도이다.</a:t>
            </a:r>
          </a:p>
          <a:p>
            <a:pPr algn="l">
              <a:spcAft>
                <a:spcPts val="400"/>
              </a:spcAft>
            </a:pPr>
            <a:r>
              <a:rPr sz="1300">
                <a:latin typeface="맑은 고딕"/>
              </a:rPr>
              <a:t>2. epoch는 5000→3000으로 줄여 학습 비용 변화도 같이 점검했다.</a:t>
            </a:r>
          </a:p>
          <a:p>
            <a:r>
              <a:t/>
            </a:r>
          </a:p>
          <a:p>
            <a:r>
              <a:rPr b="1" sz="2000">
                <a:solidFill>
                  <a:srgbClr val="C00000"/>
                </a:solidFill>
                <a:latin typeface="맑은 고딕"/>
              </a:rPr>
              <a:t>분석 결과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1. window_size=2로 확장하니 학습 쌍이 42개 → 70개로 약 +67% 늘었다. 한 target 단어가 예측해야 하는 context의 종류도 많아져 per-pair cross-entropy loss는 base(1.14)보다 오히려 높은 1.55 부근에서 수렴했다.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2. loss 값이 더 크다고 해서 모델 품질이 나쁜 것은 아니다. 윈도우가 커질수록 같은 target이 더 다양한 context를 예측해야 하므로 이론적 cross-entropy 하한 자체가 올라간다. 즉 loss 절댓값이 아니라 학습 곡선의 안정성과 임베딩 품질로 평가해야 한다.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3. embedding_size 2→10 증가로 의미 표현 공간이 더 풍부해져 단어 간 미세한 차이까지 표현 가능해진다는 trade-off가 있다. 다만 시각화는 직접 불가능해지므로 PCA 등 차원 축소가 필요하다.</a:t>
            </a:r>
          </a:p>
          <a:p>
            <a:pPr>
              <a:spcAft>
                <a:spcPts val="400"/>
              </a:spcAft>
            </a:pPr>
            <a:r>
              <a:rPr sz="1300">
                <a:latin typeface="맑은 고딕"/>
              </a:rPr>
              <a:t>4. 실 응용에서는 시각화보다 임베딩 품질이 중요하므로 embedding_size 100~300이 일반적이며, window_size도 코퍼스 특성과 도메인에 따라 조절한다.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DEE8323A701A94E84F6C6256C0785E3" ma:contentTypeVersion="4" ma:contentTypeDescription="새 문서를 만듭니다." ma:contentTypeScope="" ma:versionID="1732501790e058fd976f4dec6a73fa4d">
  <xsd:schema xmlns:xsd="http://www.w3.org/2001/XMLSchema" xmlns:xs="http://www.w3.org/2001/XMLSchema" xmlns:p="http://schemas.microsoft.com/office/2006/metadata/properties" xmlns:ns3="c82519a0-c5ed-48c9-8c99-b972c57ceecf" targetNamespace="http://schemas.microsoft.com/office/2006/metadata/properties" ma:root="true" ma:fieldsID="1f4d1805ef4cf520005b8d3e10a8f0e7" ns3:_="">
    <xsd:import namespace="c82519a0-c5ed-48c9-8c99-b972c57ceec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2519a0-c5ed-48c9-8c99-b972c57cee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AC91D5-0D24-4FCD-9EBE-33DEF9F6E401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c82519a0-c5ed-48c9-8c99-b972c57ceecf"/>
    <ds:schemaRef ds:uri="http://purl.org/dc/dcmitype/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B2AF890-73B7-49AE-A5F6-D24E961656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BC01B1-44B7-4455-AE05-6DF60F32AA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2519a0-c5ed-48c9-8c99-b972c57cee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225</Words>
  <Application>Microsoft Office PowerPoint</Application>
  <PresentationFormat>와이드스크린</PresentationFormat>
  <Paragraphs>47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KoPubWorld돋움체 Bold</vt:lpstr>
      <vt:lpstr>KoPubWorld돋움체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박훈</dc:creator>
  <cp:lastModifiedBy>박동현</cp:lastModifiedBy>
  <cp:revision>51</cp:revision>
  <dcterms:created xsi:type="dcterms:W3CDTF">2023-11-08T08:25:48Z</dcterms:created>
  <dcterms:modified xsi:type="dcterms:W3CDTF">2026-04-27T07:25:54Z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0x010100BDEE8323A701A94E84F6C6256C0785E3</vt:lpwstr>
  </property>
</Properties>
</file>