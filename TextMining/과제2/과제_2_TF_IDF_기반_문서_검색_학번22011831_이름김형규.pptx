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7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74424" autoAdjust="0"/>
  </p:normalViewPr>
  <p:slideViewPr>
    <p:cSldViewPr snapToGrid="0">
      <p:cViewPr varScale="1">
        <p:scale>
          <a:sx n="65" d="100"/>
          <a:sy n="65" d="100"/>
        </p:scale>
        <p:origin x="10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D947-0CA7-41F0-BCB5-BE015DE3DC7A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3D7E0-A644-41B0-A320-3BB3B116A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0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280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19D5D-A897-6E82-4609-309E5577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C943B2-EF0B-65D7-FFD9-F3FF715E3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56A3B1-D6C8-FC8C-1012-77D454E3F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C8B501-93B3-3DCB-78B4-CDE5CC091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962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D46FC-E4CB-96ED-23B6-1B2EC66B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504E0E-935C-92A2-8716-1B713BBD8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1925AA-6518-F403-72BC-6CE6B6FBE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9A162D-6506-421B-94CB-080286842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815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54DA-657A-D403-F4DE-E5EE1313F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7997D3-2815-8FCF-6765-803CC01A0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5C759-7EEB-1130-BA4B-FCCB9BA78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C4511-3C77-BADC-D25C-DAB828820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478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9C883-3220-0B50-9DD9-6B2BB1EB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51084D-D317-A630-DBB0-769C49458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114545-DB7A-96E0-5D33-7CB33748F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B74735-D284-196C-6F6D-583AD9F37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565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BB43-2E69-C889-54A3-C3E9B275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7CAA62-3C82-A56D-88CE-3627BFBC9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CE0F17-E908-2457-B9F4-850983DAE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5DB7C3-CF13-2756-41EC-80DE160EC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283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E43E-3465-306B-86A6-CB44945B7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95954E-866A-BE5A-1CE4-68E80AA2F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673D9E-CC9C-FB38-9441-6239D6BE2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F513E1-1C75-B10F-593B-6956C209A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34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6EA92-5E48-61B9-58E3-6CB08EFE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8413B3-5C01-3EAB-0C3A-49D6C50EB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1263FB-F90D-FEA4-0A04-2D80FD50BE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21A840-44C6-642A-5B55-767A8D8D91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50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68240-C0C2-5B27-836F-671AFC39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A157CE-0D5B-4C54-8B80-12944A3D8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611E53-4564-87FE-C47E-CC4C34F94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35306-5BDE-71BD-4E4C-90BF6ACA0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318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BE417-FC6C-FCD2-C7AF-7D5DB9335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646B13-B900-C666-71FE-95DBE12FB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F86601-553A-9B5B-DAFB-893D54A1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CD2B3-AA13-C4B5-5185-CBA224BE6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858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D9C6-B131-909C-954E-AB9E70408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3038DD-A423-56E4-6565-05CB9CDE1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A5BE64-7017-6114-60BB-61E11608E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D19F2-E54F-36B8-EDDB-B269135DA9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278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FA41-3440-56E7-B194-6C9BF9668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F773DC-1C0A-A74B-B6CA-FD92155F8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149E2C-C8CC-43CF-F35D-5259C99D0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351DF4-2420-C74D-7A30-A1290C7DEE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0132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254A-7432-2546-77A3-3E23DB40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8DFC82-72F5-EF30-1411-337266EB1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E05DD3-3498-9DBF-6817-92A72A52B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ADBBA-0AB4-79C5-8796-7A35E34F26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2777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F9918-C8AF-7B8D-89E0-585D9577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0D83C8-1581-C8C7-4AD2-4D78E126A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958E42-8460-784B-C2DA-BC655F469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8FAED-9C54-11D5-99CF-867C8DED5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776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ECAF-D716-05D8-B170-D4ECB6C3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6DE8D8-0FB7-1FCD-301C-438B1DB47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390329-3E91-921E-4B3C-5817E4893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97ADFB-5FC9-7773-7701-BB407C0BA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14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A165-D0C7-C056-48B8-96477F95B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2C427C-54FB-FE1C-6755-6D0C11E348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004605-67CD-5441-815A-EAA16DDFD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4C9BC1-4207-2D81-919F-ADF56D4BC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360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45D5A-D09F-1791-7099-C03BAE25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CB2A5C-7F64-5BD6-199B-C970C87FA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EBE492-0F62-C541-EA71-4BDBF1F2E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F6CC54-FEF9-CB73-06A7-4657C2BED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57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2A2C-0DE2-2F07-EB07-A000831C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A1D2D8-9440-C595-4EB4-95AA7F1BE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A4D9C9-1C98-C5BF-9D5B-B3D98AF2B6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6ED5A4-90A3-2A11-0DA2-9D7631298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434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1A400-4181-5E18-AA29-DCA88DB9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57595-DE8A-B9E5-4BE8-19E12D535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DCFCC-8F3B-E531-9728-36A2C4A2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B8ABA-990B-4839-A5CF-E9C60468A1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F394B-5607-EC5D-933B-AF5AC947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5852C-17A5-AFC0-6D60-C3A2DB87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1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8F0C3-F54E-4A6B-AE03-943025AB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7E57E-EFAF-5A5A-4636-2B68C062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CDF17-552B-4823-DEC7-E4D79B774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B8ABA-990B-4839-A5CF-E9C60468A1E3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D90C8-D0DD-AF20-E9E9-879622771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952FF-B0C4-3236-9F27-17210563F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5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977" y="186393"/>
            <a:ext cx="720000" cy="7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281635" y="186393"/>
            <a:ext cx="719214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/>
          </p:cNvSpPr>
          <p:nvPr/>
        </p:nvSpPr>
        <p:spPr>
          <a:xfrm>
            <a:off x="455186" y="2436862"/>
            <a:ext cx="109902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_2</a:t>
            </a:r>
          </a:p>
          <a:p>
            <a:pPr algn="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TF_IDF_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기반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문서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375643" y="3564693"/>
            <a:ext cx="2069798" cy="18794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세종대학교 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소프트웨어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학과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22011831</a:t>
            </a:r>
          </a:p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김형규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ECE80D-900C-97A8-98F6-8F0A42722D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97358" y="3403924"/>
            <a:ext cx="10545812" cy="38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038ADC-FCCB-A8B5-FBCC-9DEDD9436225}"/>
              </a:ext>
            </a:extLst>
          </p:cNvPr>
          <p:cNvSpPr txBox="1">
            <a:spLocks/>
          </p:cNvSpPr>
          <p:nvPr/>
        </p:nvSpPr>
        <p:spPr>
          <a:xfrm>
            <a:off x="676513" y="2054575"/>
            <a:ext cx="24721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2026-1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텍스트마이닝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80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5685787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0: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라이브러리 설치 및 데이터 로드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2ACBF2D3-0DCF-D330-E0D0-5368C87810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The image contains a snippet of text from a CSV file with columns for 'title', 'content', and 'references', and it includes a list of various people and terms, such as 'Enfield', 'Viktor Lowenfeld', 'Yugoslav Olympic Committee', and 'Luang Prabang'.&#10;&#10;AI 생성 콘텐츠는 정확하지 않을 수 있습니다.">
            <a:extLst>
              <a:ext uri="{FF2B5EF4-FFF2-40B4-BE49-F238E27FC236}">
                <a16:creationId xmlns:a16="http://schemas.microsoft.com/office/drawing/2014/main" id="{843DE6B2-BD7A-469A-B889-9B4B9CB5F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277331"/>
            <a:ext cx="9645445" cy="4185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ACE271-1B50-F48D-795A-70C741614CF9}"/>
              </a:ext>
            </a:extLst>
          </p:cNvPr>
          <p:cNvSpPr txBox="1"/>
          <p:nvPr/>
        </p:nvSpPr>
        <p:spPr>
          <a:xfrm>
            <a:off x="149143" y="5786303"/>
            <a:ext cx="45620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과제</a:t>
            </a:r>
            <a:r>
              <a:rPr lang="en-US" altLang="ko-KR" dirty="0"/>
              <a:t>1</a:t>
            </a:r>
            <a:r>
              <a:rPr lang="ko-KR" altLang="en-US" dirty="0"/>
              <a:t>에서 생성한</a:t>
            </a:r>
            <a:r>
              <a:rPr lang="en-US" altLang="ko-KR" dirty="0"/>
              <a:t> .CSV</a:t>
            </a:r>
            <a:r>
              <a:rPr lang="ko-KR" altLang="en-US" dirty="0"/>
              <a:t>파일을 불러옵니다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345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90A1-FB02-82FA-6DF9-B88035FC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8CC5F36A-29BD-9C58-7033-6DD96F8173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9C1168-088E-F523-E3A9-7ED1D5EAAC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2365BD-3484-91D2-021C-B0F909ECA5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A87D7-6DCE-1BA3-1043-2B3B12888C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2896562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1: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확인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08C6BF8-8C82-380B-D6DF-D92D080C108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The image shows a Python code snippet printing the total number of documents, a list of column names, and a snippet of text from the first document, which is about Enfield, a town in Ireland.&#10;&#10;AI 생성 콘텐츠는 정확하지 않을 수 있습니다.">
            <a:extLst>
              <a:ext uri="{FF2B5EF4-FFF2-40B4-BE49-F238E27FC236}">
                <a16:creationId xmlns:a16="http://schemas.microsoft.com/office/drawing/2014/main" id="{777A1A31-B3FF-80EE-064D-FBC21688E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277331"/>
            <a:ext cx="10764752" cy="35056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2DAA2F-EB6B-B922-71E5-80A7A10C3468}"/>
              </a:ext>
            </a:extLst>
          </p:cNvPr>
          <p:cNvSpPr txBox="1"/>
          <p:nvPr/>
        </p:nvSpPr>
        <p:spPr>
          <a:xfrm>
            <a:off x="425384" y="5357985"/>
            <a:ext cx="52896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데이터가 정상적으로 로드 되었는지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342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8AC1-C21B-30D7-EBEC-36247BEC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3BA0947B-F06F-80F1-2E58-D0D1D778E5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9DBEB29-B362-5E4C-6D62-8E5376E320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8A4B52A-E175-8A0A-1D3E-927F70312BD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C10E3-9424-40E9-8DBF-46740A50081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183500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2: TF-IDF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벡터화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DD7FF2C-F769-CF7A-35E6-55B34A1855A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A Python code snippet initializes a TfidfVectorizer object from sklearn.feature_extraction.text, sets a maximum of 5000 features, excludes English stopwords, and creates a TF-IDF matrix for a DataFrame column named 'clean_text'.&#10;&#10;AI 생성 콘텐츠는 정확하지 않을 수 있습니다.">
            <a:extLst>
              <a:ext uri="{FF2B5EF4-FFF2-40B4-BE49-F238E27FC236}">
                <a16:creationId xmlns:a16="http://schemas.microsoft.com/office/drawing/2014/main" id="{182CF098-2CB1-B5BC-DE66-6C82A4C3B6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277331"/>
            <a:ext cx="8258571" cy="3121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E20AAE-8602-D43C-0662-05DA7483FA4B}"/>
              </a:ext>
            </a:extLst>
          </p:cNvPr>
          <p:cNvSpPr txBox="1"/>
          <p:nvPr/>
        </p:nvSpPr>
        <p:spPr>
          <a:xfrm>
            <a:off x="3527323" y="4208302"/>
            <a:ext cx="8450300" cy="25317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TF-IDF </a:t>
            </a:r>
            <a:r>
              <a:rPr lang="ko-KR" altLang="en-US" dirty="0"/>
              <a:t>벡터화를 진행합니다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TfidfVectorizer</a:t>
            </a:r>
            <a:r>
              <a:rPr lang="en-US" altLang="ko-KR" dirty="0"/>
              <a:t> </a:t>
            </a:r>
            <a:r>
              <a:rPr lang="ko-KR" altLang="en-US" dirty="0"/>
              <a:t>라이브러리를 통해 데이터프레임의 </a:t>
            </a:r>
            <a:r>
              <a:rPr lang="en-US" altLang="ko-KR" dirty="0"/>
              <a:t>‘</a:t>
            </a:r>
            <a:r>
              <a:rPr lang="en-US" altLang="ko-KR" dirty="0" err="1"/>
              <a:t>clean_text</a:t>
            </a:r>
            <a:r>
              <a:rPr lang="en-US" altLang="ko-KR" dirty="0"/>
              <a:t>’</a:t>
            </a:r>
            <a:r>
              <a:rPr lang="ko-KR" altLang="en-US" dirty="0"/>
              <a:t>열을 </a:t>
            </a:r>
            <a:r>
              <a:rPr lang="ko-KR" altLang="en-US" dirty="0" err="1"/>
              <a:t>벡터화하여</a:t>
            </a:r>
            <a:r>
              <a:rPr lang="ko-KR" altLang="en-US" dirty="0"/>
              <a:t> </a:t>
            </a:r>
            <a:r>
              <a:rPr lang="en-US" altLang="ko-KR" dirty="0"/>
              <a:t>TF-IDF </a:t>
            </a:r>
            <a:r>
              <a:rPr lang="ko-KR" altLang="en-US" dirty="0"/>
              <a:t>행렬을 생성합니다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‘tokens’</a:t>
            </a:r>
            <a:r>
              <a:rPr lang="ko-KR" altLang="en-US" dirty="0"/>
              <a:t>가 아닌 </a:t>
            </a:r>
            <a:r>
              <a:rPr lang="en-US" altLang="ko-KR" dirty="0"/>
              <a:t>‘</a:t>
            </a:r>
            <a:r>
              <a:rPr lang="en-US" altLang="ko-KR" dirty="0" err="1"/>
              <a:t>clean_text</a:t>
            </a:r>
            <a:r>
              <a:rPr lang="en-US" altLang="ko-KR" dirty="0"/>
              <a:t>’</a:t>
            </a:r>
            <a:r>
              <a:rPr lang="ko-KR" altLang="en-US" dirty="0"/>
              <a:t>를 사용하는 이유는 다음과 같습니다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dirty="0" err="1"/>
              <a:t>TfidVectorizer</a:t>
            </a:r>
            <a:r>
              <a:rPr lang="ko-KR" altLang="en-US" dirty="0"/>
              <a:t>는 기본적으로 문자열을 입력으로 받는다</a:t>
            </a:r>
            <a:r>
              <a:rPr lang="en-US" altLang="ko-KR" dirty="0"/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dirty="0"/>
              <a:t>통문장을 넣으면 두 단어 조합을 자동으로 추출하기 쉬워진다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916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2D374-9D4A-1036-4D99-BF2E7F00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3C0FC490-D9E5-0D4B-193A-C6C4F36BDE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0ADF67-7B6E-C8B7-43D9-E89D8C3FDB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A83FA4-40D5-A7AA-211E-0E6481100B4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3708D-E290-5F97-0D8C-9C8985DD02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183500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2: TF-IDF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벡터화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82DD7C59-BB55-ED33-844F-3C904D6F1E9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46F6BC9-A5EA-AB6E-9B5D-3E05F0211ACD}"/>
              </a:ext>
            </a:extLst>
          </p:cNvPr>
          <p:cNvSpPr txBox="1"/>
          <p:nvPr/>
        </p:nvSpPr>
        <p:spPr>
          <a:xfrm>
            <a:off x="229061" y="4753914"/>
            <a:ext cx="84503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단어 벡터화가 잘 되었는지 단어 목록 출력을 통해 확인합니다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무의미한 문자열이나 불용어가 잘 걸러진 것을 알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 descr="The image displays a snippet of Python code with a list of words extracted from a vectorizer, followed by a print statement showing the total number of words (5000) and a preview of the first 20 words in the list.&#10;&#10;AI 생성 콘텐츠는 정확하지 않을 수 있습니다.">
            <a:extLst>
              <a:ext uri="{FF2B5EF4-FFF2-40B4-BE49-F238E27FC236}">
                <a16:creationId xmlns:a16="http://schemas.microsoft.com/office/drawing/2014/main" id="{27A23A00-F86E-E87C-F06E-8D4B72460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61" y="1391381"/>
            <a:ext cx="8964276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0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302FA-737D-DB6D-B37C-78E60EF3C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38FD1A48-C0FD-CB56-715E-BD8D6E7D12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182FD42-F18E-FD39-EBCF-0E7DA7B51BB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CC97CA-D1F1-32FF-FBD3-0CB22A7A2F0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396B79-6FAA-50D3-B639-15BC8FCC90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183500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2: TF-IDF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벡터화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8A183E7-E20F-2978-D275-0111FEC5BC6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The text describes the top 10 words by TF-IDF score for the document titled 'Enfield, County Meath'.&#10;&#10;AI 생성 콘텐츠는 정확하지 않을 수 있습니다.">
            <a:extLst>
              <a:ext uri="{FF2B5EF4-FFF2-40B4-BE49-F238E27FC236}">
                <a16:creationId xmlns:a16="http://schemas.microsoft.com/office/drawing/2014/main" id="{903E6A16-C9EC-FE24-E68D-FE85B28EDD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277331"/>
            <a:ext cx="6143317" cy="51387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15C97D-7500-02DA-8392-95F44535FC72}"/>
              </a:ext>
            </a:extLst>
          </p:cNvPr>
          <p:cNvSpPr txBox="1"/>
          <p:nvPr/>
        </p:nvSpPr>
        <p:spPr>
          <a:xfrm>
            <a:off x="6652886" y="1361783"/>
            <a:ext cx="5131075" cy="25317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첫 번째 문서의 </a:t>
            </a:r>
            <a:r>
              <a:rPr lang="en-US" altLang="ko-KR" dirty="0"/>
              <a:t>TF-IDF </a:t>
            </a:r>
            <a:r>
              <a:rPr lang="ko-KR" altLang="en-US" dirty="0"/>
              <a:t>상위 단어를 확인합니다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Argsort</a:t>
            </a:r>
            <a:r>
              <a:rPr lang="en-US" altLang="ko-KR" dirty="0"/>
              <a:t>()</a:t>
            </a:r>
            <a:r>
              <a:rPr lang="ko-KR" altLang="en-US" dirty="0"/>
              <a:t>는 </a:t>
            </a:r>
            <a:r>
              <a:rPr lang="en-US" altLang="ko-KR" dirty="0"/>
              <a:t>TF-IDF </a:t>
            </a:r>
            <a:r>
              <a:rPr lang="ko-KR" altLang="en-US" dirty="0"/>
              <a:t>점수를 오름차순으로 정렬하므로 높은 점수 </a:t>
            </a:r>
            <a:r>
              <a:rPr lang="en-US" altLang="ko-KR" dirty="0"/>
              <a:t>10</a:t>
            </a:r>
            <a:r>
              <a:rPr lang="ko-KR" altLang="en-US" dirty="0"/>
              <a:t>개의 단어를 가져오려면 </a:t>
            </a:r>
            <a:r>
              <a:rPr lang="ko-KR" altLang="en-US" dirty="0" err="1"/>
              <a:t>슬라이싱값으로</a:t>
            </a:r>
            <a:r>
              <a:rPr lang="ko-KR" altLang="en-US" dirty="0"/>
              <a:t> </a:t>
            </a:r>
            <a:r>
              <a:rPr lang="en-US" altLang="ko-KR" dirty="0"/>
              <a:t>-10</a:t>
            </a:r>
            <a:r>
              <a:rPr lang="ko-KR" altLang="en-US" dirty="0"/>
              <a:t>을 넣어야 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단어의 점수가 높다는 것은 그 단어가 해당 문서에만 등장하는 희귀한 단어라는 뜻입니다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876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505B-A77F-A1B2-B3D9-D0F579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4D40B3DB-E360-77CF-AC22-2E1B74A6EB2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600D601-D117-CDDA-D0A8-D042554965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DACBF8-7072-D007-9B6D-D56BBDAC42D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5E0C7-D051-47FF-407E-6D187ED12B4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92889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3: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코사인 유사도 이해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F89B32C-8CE6-9F7B-639D-34BF87652D2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6CD756E-8F37-2ED6-FB69-AEE01E98A27E}"/>
              </a:ext>
            </a:extLst>
          </p:cNvPr>
          <p:cNvSpPr txBox="1"/>
          <p:nvPr/>
        </p:nvSpPr>
        <p:spPr>
          <a:xfrm>
            <a:off x="260952" y="3661500"/>
            <a:ext cx="8293113" cy="2116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문서간 코사인 유사도 행렬을 계산합니다</a:t>
            </a:r>
            <a:r>
              <a:rPr lang="en-US" altLang="ko-KR" dirty="0"/>
              <a:t>. </a:t>
            </a:r>
            <a:r>
              <a:rPr lang="ko-KR" altLang="en-US" dirty="0"/>
              <a:t>각 단어의 </a:t>
            </a:r>
            <a:r>
              <a:rPr lang="en-US" altLang="ko-KR" dirty="0"/>
              <a:t>TF-IDF</a:t>
            </a:r>
            <a:r>
              <a:rPr lang="ko-KR" altLang="en-US" dirty="0"/>
              <a:t>점수가 저장된 </a:t>
            </a:r>
            <a:r>
              <a:rPr lang="en-US" altLang="ko-KR" dirty="0" err="1"/>
              <a:t>tfidf_matrix</a:t>
            </a:r>
            <a:r>
              <a:rPr lang="ko-KR" altLang="en-US" dirty="0"/>
              <a:t>를 통해 계산합니다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Consine_sim</a:t>
            </a:r>
            <a:r>
              <a:rPr lang="en-US" altLang="ko-KR" dirty="0"/>
              <a:t>[0][1] = 0.9 </a:t>
            </a:r>
            <a:r>
              <a:rPr lang="ko-KR" altLang="en-US" dirty="0"/>
              <a:t>일 경우</a:t>
            </a:r>
            <a:r>
              <a:rPr lang="en-US" altLang="ko-KR" dirty="0"/>
              <a:t>, 0</a:t>
            </a:r>
            <a:r>
              <a:rPr lang="ko-KR" altLang="en-US" dirty="0"/>
              <a:t>번째 문서와 </a:t>
            </a:r>
            <a:r>
              <a:rPr lang="en-US" altLang="ko-KR" dirty="0"/>
              <a:t>1</a:t>
            </a:r>
            <a:r>
              <a:rPr lang="ko-KR" altLang="en-US" dirty="0"/>
              <a:t>번째 문서의 코사인 유사도 값이 </a:t>
            </a:r>
            <a:r>
              <a:rPr lang="en-US" altLang="ko-KR" dirty="0"/>
              <a:t>0.9</a:t>
            </a:r>
            <a:r>
              <a:rPr lang="ko-KR" altLang="en-US" dirty="0"/>
              <a:t>라는 의미입니다</a:t>
            </a:r>
            <a:r>
              <a:rPr lang="en-US" altLang="ko-KR" dirty="0"/>
              <a:t>. </a:t>
            </a:r>
            <a:r>
              <a:rPr lang="ko-KR" altLang="en-US" dirty="0"/>
              <a:t>유사도 값이 </a:t>
            </a:r>
            <a:r>
              <a:rPr lang="en-US" altLang="ko-KR" dirty="0"/>
              <a:t>1</a:t>
            </a:r>
            <a:r>
              <a:rPr lang="ko-KR" altLang="en-US" dirty="0"/>
              <a:t>에 가까워질수록 등장하는 단어 비중이 일치하다는 뜻입니다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 descr="The provided text describes the process of calculating a cosine similarity matrix using the TF-IDF (Term Frequency-Inverse Document Frequency) matrix in the scikit-learn library, followed by printing the size of the resulting similarity matrix.&#10;&#10;AI 생성 콘텐츠는 정확하지 않을 수 있습니다.">
            <a:extLst>
              <a:ext uri="{FF2B5EF4-FFF2-40B4-BE49-F238E27FC236}">
                <a16:creationId xmlns:a16="http://schemas.microsoft.com/office/drawing/2014/main" id="{C2605824-351F-A2DF-CFC9-5FB891408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952" y="1406234"/>
            <a:ext cx="752580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9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DE34-DB24-C0A0-1BF9-B39E7B2A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08DCFD3B-7BED-88CC-06C2-CB57CC3D09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389B24-488B-F768-7815-E78444CB036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B2D877-03FD-2E32-1704-E0CAB6ACB9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2D167-64DD-3AB0-CBA0-BBBE93EE92F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92889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3: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코사인 유사도 이해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6F71FAC-CEB0-BB50-36DD-B6F372CDBB7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F96139E-BF75-DAAE-03D4-AAE314A0C254}"/>
              </a:ext>
            </a:extLst>
          </p:cNvPr>
          <p:cNvSpPr txBox="1"/>
          <p:nvPr/>
        </p:nvSpPr>
        <p:spPr>
          <a:xfrm>
            <a:off x="425384" y="4507252"/>
            <a:ext cx="8807106" cy="1285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첫번째 문서와 다른 문서의 유사도를 계산하여 가장 유사한 문서를 찾는 코드입니다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자기 자신을 제외하고 가장 유사한 문서의 인덱스를 </a:t>
            </a:r>
            <a:r>
              <a:rPr lang="en-US" altLang="ko-KR" dirty="0"/>
              <a:t>argmax()</a:t>
            </a:r>
            <a:r>
              <a:rPr lang="ko-KR" altLang="en-US" dirty="0"/>
              <a:t>함수를 통해 찾고</a:t>
            </a:r>
            <a:r>
              <a:rPr lang="en-US" altLang="ko-KR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해당 문서의 제목과 유사도를 출력합니다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A document titled 'Enfield, County Meath' is most similar to the document titled 'Wendlingen (Neckar) station'.&#10;&#10;AI 생성 콘텐츠는 정확하지 않을 수 있습니다.">
            <a:extLst>
              <a:ext uri="{FF2B5EF4-FFF2-40B4-BE49-F238E27FC236}">
                <a16:creationId xmlns:a16="http://schemas.microsoft.com/office/drawing/2014/main" id="{F44289AB-4338-4889-EE77-71C173945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98" y="1380270"/>
            <a:ext cx="8335304" cy="302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88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2D22B-E436-A20A-377F-73DF79830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16CFF231-6868-B6FF-1DC7-28D2B31594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3EC6D8F-9AD0-A2C4-66D5-DCD6BFE746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945715-4505-5775-E2A2-CD2B3695A2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7EAD5-3FF1-98EF-FA10-F35A61C583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31334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4: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검색 함수 구현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CC2957D-AB3B-5281-7863-14392F6E0AB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 descr="A code snippet in Python defines a function for retrieving the top K most similar documents to a given query based on TF-IDF vector similarity.&#10;&#10;AI 생성 콘텐츠는 정확하지 않을 수 있습니다.">
            <a:extLst>
              <a:ext uri="{FF2B5EF4-FFF2-40B4-BE49-F238E27FC236}">
                <a16:creationId xmlns:a16="http://schemas.microsoft.com/office/drawing/2014/main" id="{8F69F21D-7F62-AC9B-F92B-1A00C111F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269376"/>
            <a:ext cx="6213877" cy="38261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722529-0A83-D2E5-AB78-99E14D58BA95}"/>
              </a:ext>
            </a:extLst>
          </p:cNvPr>
          <p:cNvSpPr txBox="1"/>
          <p:nvPr/>
        </p:nvSpPr>
        <p:spPr>
          <a:xfrm>
            <a:off x="6597803" y="1257616"/>
            <a:ext cx="4257230" cy="377827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쿼리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)</a:t>
            </a:r>
            <a:r>
              <a:rPr lang="ko-KR" altLang="en-US" dirty="0"/>
              <a:t>과 가장 유사한 문서 </a:t>
            </a:r>
            <a:r>
              <a:rPr lang="en-US" altLang="ko-KR" dirty="0" err="1"/>
              <a:t>top_k</a:t>
            </a:r>
            <a:r>
              <a:rPr lang="ko-KR" altLang="en-US" dirty="0"/>
              <a:t>개를 반환하는 함수를 정의합니다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TF_IDF</a:t>
            </a:r>
            <a:r>
              <a:rPr lang="ko-KR" altLang="en-US" dirty="0"/>
              <a:t>점수를 계산하고 그 결과를 바탕으로 숫자 행렬로 변환할 때 사용하는 </a:t>
            </a:r>
            <a:r>
              <a:rPr lang="en-US" altLang="ko-KR" dirty="0" err="1"/>
              <a:t>fit_tranform</a:t>
            </a:r>
            <a:r>
              <a:rPr lang="en-US" altLang="ko-KR" dirty="0"/>
              <a:t>()</a:t>
            </a:r>
            <a:r>
              <a:rPr lang="ko-KR" altLang="en-US" dirty="0"/>
              <a:t>와 달리</a:t>
            </a:r>
            <a:r>
              <a:rPr lang="en-US" altLang="ko-KR" dirty="0"/>
              <a:t>,</a:t>
            </a:r>
            <a:r>
              <a:rPr lang="ko-KR" altLang="en-US" dirty="0"/>
              <a:t> 입력된 쿼리는 </a:t>
            </a:r>
            <a:r>
              <a:rPr lang="en-US" altLang="ko-KR" dirty="0" err="1"/>
              <a:t>tf-idf</a:t>
            </a:r>
            <a:r>
              <a:rPr lang="ko-KR" altLang="en-US" dirty="0"/>
              <a:t>점수를 계산할 필요 없이 바로 숫자 행렬로 변환하면 되므로 </a:t>
            </a:r>
            <a:r>
              <a:rPr lang="en-US" altLang="ko-KR" dirty="0"/>
              <a:t>transform()</a:t>
            </a:r>
            <a:r>
              <a:rPr lang="ko-KR" altLang="en-US" dirty="0"/>
              <a:t>함수를 사용해주고</a:t>
            </a:r>
            <a:r>
              <a:rPr lang="en-US" altLang="ko-KR" dirty="0"/>
              <a:t>, </a:t>
            </a:r>
            <a:r>
              <a:rPr lang="ko-KR" altLang="en-US" dirty="0"/>
              <a:t>인자로 리스트를 받기 때문에 리스트에 담아 넘겨줍니다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850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974F4-1217-1560-A79B-5F77C737F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BAEEF4D2-4930-D4CA-4541-482B2F33C3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3F3094D-18E6-A4CC-3E18-D21A522A57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F0159D-2D80-B055-7066-0F983B3EFD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20B13E-B9D6-EC1E-2813-CC2CB925B1B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31334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4: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검색 함수 구현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3A13F2D4-D0C7-D1BC-8F1B-A8CAE7DB5A3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95BF93E-2666-34FF-B824-30095D7E1D26}"/>
              </a:ext>
            </a:extLst>
          </p:cNvPr>
          <p:cNvSpPr txBox="1"/>
          <p:nvPr/>
        </p:nvSpPr>
        <p:spPr>
          <a:xfrm>
            <a:off x="6597803" y="1257616"/>
            <a:ext cx="4257230" cy="12852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쿼리와 </a:t>
            </a:r>
            <a:r>
              <a:rPr lang="en-US" altLang="ko-KR" dirty="0" err="1"/>
              <a:t>tf-idf</a:t>
            </a:r>
            <a:r>
              <a:rPr lang="ko-KR" altLang="en-US" dirty="0"/>
              <a:t>행렬을 비교하여 쿼리와 가장 유사도가 높은 </a:t>
            </a:r>
            <a:r>
              <a:rPr lang="en-US" altLang="ko-KR" dirty="0"/>
              <a:t>k(=5)</a:t>
            </a:r>
            <a:r>
              <a:rPr lang="ko-KR" altLang="en-US" dirty="0"/>
              <a:t>개의 문서를 유사도와 함께 출력합니다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machine learning algorithm&#10;&#10;AI 생성 콘텐츠는 정확하지 않을 수 있습니다.">
            <a:extLst>
              <a:ext uri="{FF2B5EF4-FFF2-40B4-BE49-F238E27FC236}">
                <a16:creationId xmlns:a16="http://schemas.microsoft.com/office/drawing/2014/main" id="{BE9FCAFE-520F-EFDD-8A39-31FBEE417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40" y="1224927"/>
            <a:ext cx="5845546" cy="398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51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C1ABE-0E0A-A57A-BAB8-287080D09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4CC3BBA-A1E9-029E-9D10-729607B146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4546C29-818E-03FE-D375-06534394FE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6D1198-3F4A-4538-3FB8-6921F40F1F7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C775E-09AE-0FB7-4DA2-29B335FF2A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92889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5: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다양한 쿼리 테스트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69EAB23-D9F3-99A2-42D1-77CD8DD6B9E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E18F94-0D29-D1A6-B663-D4701F9CE96C}"/>
              </a:ext>
            </a:extLst>
          </p:cNvPr>
          <p:cNvSpPr txBox="1"/>
          <p:nvPr/>
        </p:nvSpPr>
        <p:spPr>
          <a:xfrm>
            <a:off x="6922267" y="1422441"/>
            <a:ext cx="4257230" cy="2116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임의로 입력한 쿼리로 테스트하는 코드입니다</a:t>
            </a:r>
            <a:r>
              <a:rPr lang="en-US" altLang="ko-KR" dirty="0"/>
              <a:t>. Queries</a:t>
            </a:r>
            <a:r>
              <a:rPr lang="ko-KR" altLang="en-US" dirty="0"/>
              <a:t> 배열에 테스트하고자 하는 쿼리 </a:t>
            </a:r>
            <a:r>
              <a:rPr lang="en-US" altLang="ko-KR" dirty="0"/>
              <a:t>3</a:t>
            </a:r>
            <a:r>
              <a:rPr lang="ko-KR" altLang="en-US" dirty="0"/>
              <a:t>개를 입력하고</a:t>
            </a:r>
            <a:r>
              <a:rPr lang="en-US" altLang="ko-KR" dirty="0"/>
              <a:t>, </a:t>
            </a:r>
            <a:r>
              <a:rPr lang="ko-KR" altLang="en-US" dirty="0"/>
              <a:t>각 쿼리를 </a:t>
            </a:r>
            <a:r>
              <a:rPr lang="en-US" altLang="ko-KR" dirty="0"/>
              <a:t>search()</a:t>
            </a:r>
            <a:r>
              <a:rPr lang="ko-KR" altLang="en-US" dirty="0"/>
              <a:t>함수의 인자로 넘겨 해당 쿼리와 다른 문서와의 유사도를 계산합니다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The image shows a code snippet in a programming language, specifically Python, which contains a loop for iterating through a list of queries and executing a search function for each query, printing out the top 3 search results for each.&#10;&#10;AI 생성 콘텐츠는 정확하지 않을 수 있습니다.">
            <a:extLst>
              <a:ext uri="{FF2B5EF4-FFF2-40B4-BE49-F238E27FC236}">
                <a16:creationId xmlns:a16="http://schemas.microsoft.com/office/drawing/2014/main" id="{42DE6EDC-91C0-5397-DE5E-053633670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9" y="1422441"/>
            <a:ext cx="6554115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59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DB0E-FA22-A397-A6BB-3E3A9E76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BE6FFFD2-9276-FB88-54BE-86EFC5CEBE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F072DE2-CF2B-3129-6F96-46C9B2295E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4A304C-E0E5-B46E-0936-08BBC8DFD8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D92261-7F77-76CA-324A-911EDB8FAF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3928896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5: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다양한 쿼리 테스트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3CFEF48-F801-D375-A814-2F51106AAD7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FF6EC8-2C84-42E3-DF63-39D00E29C576}"/>
              </a:ext>
            </a:extLst>
          </p:cNvPr>
          <p:cNvSpPr txBox="1"/>
          <p:nvPr/>
        </p:nvSpPr>
        <p:spPr>
          <a:xfrm>
            <a:off x="6922267" y="1422441"/>
            <a:ext cx="4257230" cy="5024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테스트 결과입니다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‘university’</a:t>
            </a:r>
            <a:r>
              <a:rPr lang="ko-KR" altLang="en-US" dirty="0"/>
              <a:t>와의 유사도가 가장 높은 문서는 </a:t>
            </a:r>
            <a:r>
              <a:rPr lang="en-US" altLang="ko-KR" dirty="0"/>
              <a:t>‘Edmund Copeland’(</a:t>
            </a:r>
            <a:r>
              <a:rPr lang="ko-KR" altLang="en-US" dirty="0"/>
              <a:t>영국의 물리학 교수</a:t>
            </a:r>
            <a:r>
              <a:rPr lang="en-US" altLang="ko-KR" dirty="0"/>
              <a:t>)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‘</a:t>
            </a:r>
            <a:r>
              <a:rPr lang="en-US" altLang="ko-KR" dirty="0" err="1"/>
              <a:t>korea</a:t>
            </a:r>
            <a:r>
              <a:rPr lang="en-US" altLang="ko-KR" dirty="0"/>
              <a:t>’</a:t>
            </a:r>
            <a:r>
              <a:rPr lang="ko-KR" altLang="en-US" dirty="0"/>
              <a:t>와의 유사도가 가장 높은 문서는 </a:t>
            </a:r>
            <a:r>
              <a:rPr lang="en-US" altLang="ko-KR" dirty="0"/>
              <a:t>’Andre Lee’(</a:t>
            </a:r>
            <a:r>
              <a:rPr lang="ko-KR" altLang="en-US" dirty="0"/>
              <a:t>한국계 미국인 </a:t>
            </a:r>
            <a:r>
              <a:rPr lang="en-US" altLang="ko-KR" dirty="0"/>
              <a:t>CEO)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‘big data’</a:t>
            </a:r>
            <a:r>
              <a:rPr lang="ko-KR" altLang="en-US" dirty="0"/>
              <a:t>와의 유사도가 가장 높은 문서는 </a:t>
            </a:r>
            <a:r>
              <a:rPr lang="en-US" altLang="ko-KR" dirty="0"/>
              <a:t>‘</a:t>
            </a:r>
            <a:r>
              <a:rPr lang="en-US" altLang="ko-KR" dirty="0" err="1"/>
              <a:t>Datascope</a:t>
            </a:r>
            <a:r>
              <a:rPr lang="en-US" altLang="ko-KR" dirty="0"/>
              <a:t> Analytics’(</a:t>
            </a:r>
            <a:r>
              <a:rPr lang="ko-KR" altLang="en-US" dirty="0"/>
              <a:t>미국의 데이터 기반 컨설팅 회사</a:t>
            </a:r>
            <a:r>
              <a:rPr lang="en-US" altLang="ko-KR" dirty="0"/>
              <a:t>)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입력된 쿼리와 가장 비슷한 문서가 나오는 것을 알 수 있습니다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The image displays a list of search results for terms like 'university,' 'Korea,' and 'big data,' with various names and their similarity scores.&#10;&#10;AI 생성 콘텐츠는 정확하지 않을 수 있습니다.">
            <a:extLst>
              <a:ext uri="{FF2B5EF4-FFF2-40B4-BE49-F238E27FC236}">
                <a16:creationId xmlns:a16="http://schemas.microsoft.com/office/drawing/2014/main" id="{C41F3AC9-7E4E-3BD0-2D2A-ACD4D57630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384" y="1338681"/>
            <a:ext cx="6277851" cy="499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98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583D-1947-3817-39B2-A3F8F7C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56D85EAC-D1A3-96E6-5457-FABE4C4D50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DFAD56E-B640-C9D9-5ADE-C608A5B7757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F0B553-B893-BFF3-7B98-BED95C5FF7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0274E-A2D0-ABD4-B4BD-B9FFDA069E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F56805F-29B7-A1A1-2869-915738405ED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27ADDB-B0BC-F141-1C18-0CC0E12254C1}"/>
              </a:ext>
            </a:extLst>
          </p:cNvPr>
          <p:cNvSpPr txBox="1"/>
          <p:nvPr/>
        </p:nvSpPr>
        <p:spPr>
          <a:xfrm>
            <a:off x="7106622" y="1369600"/>
            <a:ext cx="4257230" cy="29472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Seaborn</a:t>
            </a:r>
            <a:r>
              <a:rPr lang="ko-KR" altLang="en-US" dirty="0"/>
              <a:t>과 </a:t>
            </a:r>
            <a:r>
              <a:rPr lang="en-US" altLang="ko-KR" dirty="0"/>
              <a:t>matplotlib </a:t>
            </a:r>
            <a:r>
              <a:rPr lang="ko-KR" altLang="en-US" dirty="0"/>
              <a:t>라이브러리를 통해 유사도를 </a:t>
            </a:r>
            <a:r>
              <a:rPr lang="ko-KR" altLang="en-US" dirty="0" err="1"/>
              <a:t>시각화하는</a:t>
            </a:r>
            <a:r>
              <a:rPr lang="ko-KR" altLang="en-US" dirty="0"/>
              <a:t> 코드입니다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상위 </a:t>
            </a:r>
            <a:r>
              <a:rPr lang="en-US" altLang="ko-KR" dirty="0"/>
              <a:t>10</a:t>
            </a:r>
            <a:r>
              <a:rPr lang="ko-KR" altLang="en-US" dirty="0"/>
              <a:t>개의 문서를 가져와 서로의 유사도를 구해 </a:t>
            </a:r>
            <a:r>
              <a:rPr lang="en-US" altLang="ko-KR" dirty="0" err="1"/>
              <a:t>cosine_sim_subset</a:t>
            </a:r>
            <a:r>
              <a:rPr lang="ko-KR" altLang="en-US" dirty="0"/>
              <a:t>리스트에 저장합니다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이에 더해</a:t>
            </a:r>
            <a:r>
              <a:rPr lang="en-US" altLang="ko-KR" dirty="0"/>
              <a:t>, </a:t>
            </a:r>
            <a:r>
              <a:rPr lang="ko-KR" altLang="en-US" dirty="0"/>
              <a:t>그래프를 띄울 때 한글 포트 사용을 위한 코드를 추가하였습니다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The image shows a snippet of Python code with various imports, variable declarations, and a loop for handling long titles.&#10;&#10;AI 생성 콘텐츠는 정확하지 않을 수 있습니다.">
            <a:extLst>
              <a:ext uri="{FF2B5EF4-FFF2-40B4-BE49-F238E27FC236}">
                <a16:creationId xmlns:a16="http://schemas.microsoft.com/office/drawing/2014/main" id="{AD9763C0-D1BC-7A24-D874-A2A6C67F9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29" y="1369600"/>
            <a:ext cx="6531172" cy="465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3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40780-E8B2-4BD7-8D5E-CFBE285D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D8C2B072-76F7-25DF-F194-63FDF00938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AFC279C-7353-05D2-2F70-2A16673155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FAB7B0-AA04-A15F-38CC-C737736D49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20D478-C984-297C-E844-CB3041824C6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03FFD3F-379E-0B56-25C5-CC208AA2764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8FEED1-5D47-7DB1-0ED2-3AA676E90FCF}"/>
              </a:ext>
            </a:extLst>
          </p:cNvPr>
          <p:cNvSpPr txBox="1"/>
          <p:nvPr/>
        </p:nvSpPr>
        <p:spPr>
          <a:xfrm>
            <a:off x="7106622" y="1369600"/>
            <a:ext cx="4257230" cy="17007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히트맵을</a:t>
            </a:r>
            <a:r>
              <a:rPr lang="ko-KR" altLang="en-US" dirty="0"/>
              <a:t> 시각화 하는 코드입니다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각 문서 사이에 유사도가 저장된 </a:t>
            </a:r>
            <a:r>
              <a:rPr lang="en-US" altLang="ko-KR" dirty="0" err="1"/>
              <a:t>cosine_sim_subset</a:t>
            </a:r>
            <a:r>
              <a:rPr lang="en-US" altLang="ko-KR" dirty="0"/>
              <a:t> </a:t>
            </a:r>
            <a:r>
              <a:rPr lang="ko-KR" altLang="en-US" dirty="0"/>
              <a:t>리스트와 기본 </a:t>
            </a:r>
            <a:r>
              <a:rPr lang="ko-KR" altLang="en-US" dirty="0" err="1"/>
              <a:t>컬러맵을</a:t>
            </a:r>
            <a:r>
              <a:rPr lang="ko-KR" altLang="en-US" dirty="0"/>
              <a:t> 설정하여 그래프를 표시합니다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The image is a heatmap displaying cosine similarity between a set of documents, with color coding to represent different similarity levels.&#10;&#10;AI 생성 콘텐츠는 정확하지 않을 수 있습니다.">
            <a:extLst>
              <a:ext uri="{FF2B5EF4-FFF2-40B4-BE49-F238E27FC236}">
                <a16:creationId xmlns:a16="http://schemas.microsoft.com/office/drawing/2014/main" id="{E2002DDB-0C8C-699D-8509-431EB6F61C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030" y="1369600"/>
            <a:ext cx="6396996" cy="478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95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6EA06-5244-1CFB-E273-83CC96D35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9FC37504-BF07-2A1E-5382-92474279DF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0D2AAE-721C-710A-CF01-F21D5729B1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4A6DFA-DB19-D923-2771-430EA3F176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A5FC8-6990-A48F-8B77-4CF32C6AEE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0C8CED9-DA68-E11C-1E48-C1C9DA969BD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5CFC450-580F-21D4-1046-E15D9010B9A8}"/>
              </a:ext>
            </a:extLst>
          </p:cNvPr>
          <p:cNvSpPr txBox="1"/>
          <p:nvPr/>
        </p:nvSpPr>
        <p:spPr>
          <a:xfrm>
            <a:off x="6251215" y="1428593"/>
            <a:ext cx="5009179" cy="2116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시각화 결과 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가로축과 세로축에 문서들이 나열 되어 있고</a:t>
            </a:r>
            <a:r>
              <a:rPr lang="en-US" altLang="ko-KR" dirty="0"/>
              <a:t>, </a:t>
            </a:r>
            <a:r>
              <a:rPr lang="ko-KR" altLang="en-US" dirty="0"/>
              <a:t>각 문서 사이의 유사도가 표현되어 있습니다</a:t>
            </a:r>
            <a:r>
              <a:rPr lang="en-US" altLang="ko-KR" dirty="0"/>
              <a:t>. </a:t>
            </a:r>
            <a:r>
              <a:rPr lang="ko-KR" altLang="en-US" dirty="0"/>
              <a:t>파란색이 진할 수록 유사도가 높은 문서라는 뜻입니다</a:t>
            </a:r>
            <a:r>
              <a:rPr lang="en-US" altLang="ko-KR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C370AD-01F5-6469-C529-665DC303E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07" y="1277330"/>
            <a:ext cx="5779434" cy="487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860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354FD-91C1-312C-439E-7A0DB530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24A7F66A-1726-045D-80CD-6D72138F2B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79D1771-80BE-40AB-A614-4A336BE965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690FB8-F791-640A-F307-F869FEA5A3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0ADCB-2D18-C755-CD49-DC9772CC2EF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002932CC-4117-96AF-E18D-3F4DEF94E0D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774D0BE-F3B2-C026-C217-627C4D3E65C7}"/>
              </a:ext>
            </a:extLst>
          </p:cNvPr>
          <p:cNvSpPr txBox="1"/>
          <p:nvPr/>
        </p:nvSpPr>
        <p:spPr>
          <a:xfrm>
            <a:off x="6398699" y="1312715"/>
            <a:ext cx="5245990" cy="21162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특정 문서와 다른 문서들의 유사도를 막대그래프로 표현하는 코드입니다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유사도가 가장 높은 </a:t>
            </a:r>
            <a:r>
              <a:rPr lang="en-US" altLang="ko-KR" dirty="0" err="1"/>
              <a:t>top_k</a:t>
            </a:r>
            <a:r>
              <a:rPr lang="en-US" altLang="ko-KR" dirty="0"/>
              <a:t>(=5)</a:t>
            </a:r>
            <a:r>
              <a:rPr lang="ko-KR" altLang="en-US" dirty="0"/>
              <a:t>개의 문서를 가져와 </a:t>
            </a:r>
            <a:r>
              <a:rPr lang="en-US" altLang="ko-KR" dirty="0"/>
              <a:t>X</a:t>
            </a:r>
            <a:r>
              <a:rPr lang="ko-KR" altLang="en-US" dirty="0"/>
              <a:t>축에 문서들의 제목</a:t>
            </a:r>
            <a:r>
              <a:rPr lang="en-US" altLang="ko-KR" dirty="0"/>
              <a:t>, Y</a:t>
            </a:r>
            <a:r>
              <a:rPr lang="ko-KR" altLang="en-US" dirty="0"/>
              <a:t>축에 각 문서의 유사도 점수를 저장하여 막대그래프로 띄웁니다</a:t>
            </a:r>
            <a:r>
              <a:rPr lang="en-US" altLang="ko-KR" dirty="0"/>
              <a:t>.</a:t>
            </a:r>
          </a:p>
        </p:txBody>
      </p:sp>
      <p:pic>
        <p:nvPicPr>
          <p:cNvPr id="13" name="그림 12" descr="A bar chart visualizing the top five documents most similar to a specific document, with their titles and cosine similarity scores.&#10;&#10;AI 생성 콘텐츠는 정확하지 않을 수 있습니다.">
            <a:extLst>
              <a:ext uri="{FF2B5EF4-FFF2-40B4-BE49-F238E27FC236}">
                <a16:creationId xmlns:a16="http://schemas.microsoft.com/office/drawing/2014/main" id="{00A2BF46-C01D-912A-415E-B3A76C54E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802" y="1406770"/>
            <a:ext cx="5907895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79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98C00-BBD3-AE97-CAB4-E51983D09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03F1FD05-D418-4DC8-B43D-343AA8FEB6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831F9D6-CB2F-505B-EEB8-30B0067116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AF13D8-515A-EAAE-0F7E-F7E20DA7D8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9C670-573B-610F-D4BE-65E29137C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F09DF70-F708-7A90-4459-214F9719A0F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14A7CB1-D289-C034-D39D-139CCFE3214D}"/>
              </a:ext>
            </a:extLst>
          </p:cNvPr>
          <p:cNvSpPr txBox="1"/>
          <p:nvPr/>
        </p:nvSpPr>
        <p:spPr>
          <a:xfrm>
            <a:off x="6251215" y="1606229"/>
            <a:ext cx="5245990" cy="33627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막대그래프로 시각화한 결과입니다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‘Enfield, County Meat…’-</a:t>
            </a:r>
            <a:r>
              <a:rPr lang="ko-KR" altLang="en-US" dirty="0"/>
              <a:t>아일랜드에 위치한 도시로</a:t>
            </a:r>
            <a:r>
              <a:rPr lang="en-US" altLang="ko-KR" dirty="0"/>
              <a:t>, </a:t>
            </a:r>
            <a:r>
              <a:rPr lang="ko-KR" altLang="en-US" dirty="0"/>
              <a:t>철도 노선 위에 위치해 있음</a:t>
            </a:r>
            <a:r>
              <a:rPr lang="en-US" altLang="ko-KR" dirty="0"/>
              <a:t>-</a:t>
            </a:r>
            <a:r>
              <a:rPr lang="ko-KR" altLang="en-US" dirty="0"/>
              <a:t>와 유사도가 가장 높은 문서는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‘Wendlingen(Neckar)’-</a:t>
            </a:r>
            <a:r>
              <a:rPr lang="ko-KR" altLang="en-US" dirty="0"/>
              <a:t>독일 </a:t>
            </a:r>
            <a:r>
              <a:rPr lang="ko-KR" altLang="en-US" dirty="0" err="1"/>
              <a:t>벤들링겐</a:t>
            </a:r>
            <a:r>
              <a:rPr lang="ko-KR" altLang="en-US" dirty="0"/>
              <a:t> 시에 있는 유일한 기차역</a:t>
            </a:r>
            <a:r>
              <a:rPr lang="en-US" altLang="ko-KR" dirty="0"/>
              <a:t>-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실제로 유사한 내용을 가진 문서들이라는 것을 확인할 수 있습니다</a:t>
            </a:r>
            <a:r>
              <a:rPr lang="en-US" altLang="ko-KR" dirty="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A2A3E57-A953-4700-2AE1-058C8BCFC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57" y="1277331"/>
            <a:ext cx="5558144" cy="5123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462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BA9F-23F4-7C15-95F0-024F1ABC0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3C0E37F6-2114-F329-99A7-8E8A9D8F888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80F226-E2C3-6B36-5177-49F5223120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E4867B-EF7D-2BE7-7660-0AAC9A3D81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C31B9-A79B-1C85-C7A3-7EEC916E0D4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BB8D965-9DA1-CAAD-8442-081E13499AB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C6D597-9B1D-7137-B89E-251885725156}"/>
              </a:ext>
            </a:extLst>
          </p:cNvPr>
          <p:cNvSpPr txBox="1"/>
          <p:nvPr/>
        </p:nvSpPr>
        <p:spPr>
          <a:xfrm>
            <a:off x="6302833" y="1342103"/>
            <a:ext cx="5473753" cy="25317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두 문서와 </a:t>
            </a:r>
            <a:r>
              <a:rPr lang="en-US" altLang="ko-KR" dirty="0" err="1"/>
              <a:t>tfidf_matrix</a:t>
            </a:r>
            <a:r>
              <a:rPr lang="en-US" altLang="ko-KR" dirty="0"/>
              <a:t>,</a:t>
            </a:r>
            <a:r>
              <a:rPr lang="ko-KR" altLang="en-US" dirty="0"/>
              <a:t> 단어 개수 </a:t>
            </a:r>
            <a:r>
              <a:rPr lang="en-US" altLang="ko-KR" dirty="0"/>
              <a:t>n</a:t>
            </a:r>
            <a:r>
              <a:rPr lang="ko-KR" altLang="en-US" dirty="0"/>
              <a:t>을 인자로 받아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두 문서의 유사도에 가장 많은 기여를 한 </a:t>
            </a:r>
            <a:r>
              <a:rPr lang="en-US" altLang="ko-KR" dirty="0"/>
              <a:t>n</a:t>
            </a:r>
            <a:r>
              <a:rPr lang="ko-KR" altLang="en-US" dirty="0"/>
              <a:t>개의 단어를 반환하는 함수를 정의합니다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각 문서의 </a:t>
            </a:r>
            <a:r>
              <a:rPr lang="en-US" altLang="ko-KR" dirty="0" err="1"/>
              <a:t>tf-idf</a:t>
            </a:r>
            <a:r>
              <a:rPr lang="ko-KR" altLang="en-US" dirty="0"/>
              <a:t>벡터를 저장하여</a:t>
            </a:r>
            <a:r>
              <a:rPr lang="en-US" altLang="ko-KR" dirty="0"/>
              <a:t>, </a:t>
            </a:r>
            <a:r>
              <a:rPr lang="ko-KR" altLang="en-US" dirty="0"/>
              <a:t>두 벡터의 각 요소를 서로 곱하여 기여도를 계산하고</a:t>
            </a:r>
            <a:r>
              <a:rPr lang="en-US" altLang="ko-KR" dirty="0"/>
              <a:t>, </a:t>
            </a:r>
            <a:r>
              <a:rPr lang="ko-KR" altLang="en-US" dirty="0"/>
              <a:t>기여도가 높은 순서대로 정렬한 뒤 결과를 반환하는 함수 입니다</a:t>
            </a:r>
            <a:r>
              <a:rPr lang="en-US" altLang="ko-KR" dirty="0"/>
              <a:t>.</a:t>
            </a:r>
          </a:p>
        </p:txBody>
      </p:sp>
      <p:pic>
        <p:nvPicPr>
          <p:cNvPr id="4" name="그림 3" descr="A Python function to calculate the similarity contribution of terms between two documents using their TF-IDF vectors.&#10;&#10;AI 생성 콘텐츠는 정확하지 않을 수 있습니다.">
            <a:extLst>
              <a:ext uri="{FF2B5EF4-FFF2-40B4-BE49-F238E27FC236}">
                <a16:creationId xmlns:a16="http://schemas.microsoft.com/office/drawing/2014/main" id="{5801DF1F-A1DA-C8EF-016E-5A72C9C42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5" y="1342103"/>
            <a:ext cx="6009442" cy="5142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948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EC0C-9C47-FA34-6367-7946FF03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1ED588D9-F835-DDBA-A401-187B02A9A7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AD1D952-BBEC-0D5A-FF2D-6F08EB3ACE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A30193-6515-7CAE-8440-7EB09C19CF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93751" y="187860"/>
            <a:ext cx="6775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</a:t>
            </a:r>
            <a:r>
              <a:rPr lang="en-US" altLang="ko-KR" sz="24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_2</a:t>
            </a:r>
            <a:endParaRPr lang="ko-KR" altLang="en-US" sz="24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5C1F3-AF4C-7D5F-EA47-BDC755D197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4236673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Step 6: 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유사도 </a:t>
            </a:r>
            <a:r>
              <a:rPr lang="ko-KR" altLang="en-US" sz="24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히트맵</a:t>
            </a: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시각화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660CA3E-E2EB-7FC3-6362-B99F12EB631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96CDB6-2170-D132-C1A7-9D70AE76752E}"/>
              </a:ext>
            </a:extLst>
          </p:cNvPr>
          <p:cNvSpPr txBox="1"/>
          <p:nvPr/>
        </p:nvSpPr>
        <p:spPr>
          <a:xfrm>
            <a:off x="6474542" y="1262584"/>
            <a:ext cx="4844844" cy="25317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‘Enfield, County Meat…’</a:t>
            </a:r>
            <a:r>
              <a:rPr lang="ko-KR" altLang="en-US" dirty="0"/>
              <a:t>문서와 </a:t>
            </a:r>
            <a:r>
              <a:rPr lang="en-US" altLang="ko-KR" dirty="0"/>
              <a:t>‘Wendlingen(Neckar) station’</a:t>
            </a:r>
            <a:r>
              <a:rPr lang="ko-KR" altLang="en-US" dirty="0"/>
              <a:t>문서의 유사도에 가장 많이 기여한 단어를 확인합니다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실제 해당 문서를 확인해보면 </a:t>
            </a:r>
            <a:r>
              <a:rPr lang="en-US" altLang="ko-KR" dirty="0"/>
              <a:t>‘railway’, ‘station’</a:t>
            </a:r>
            <a:r>
              <a:rPr lang="ko-KR" altLang="en-US" dirty="0"/>
              <a:t>과 같은 단어들이 두 문서에 모두 등장하는 것을 확인할 수 있습니다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 descr="The image shows a code snippet with two selected document indices, a word count, and a dataframe displaying the top words contributing to the cosine similarity between two documents, including their TF-IDF values for both documents.&#10;&#10;AI 생성 콘텐츠는 정확하지 않을 수 있습니다.">
            <a:extLst>
              <a:ext uri="{FF2B5EF4-FFF2-40B4-BE49-F238E27FC236}">
                <a16:creationId xmlns:a16="http://schemas.microsoft.com/office/drawing/2014/main" id="{07B9FD0D-B4E0-0AEC-95E9-1D0F2ED5BB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84" y="1262584"/>
            <a:ext cx="6142177" cy="427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5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DEE8323A701A94E84F6C6256C0785E3" ma:contentTypeVersion="4" ma:contentTypeDescription="새 문서를 만듭니다." ma:contentTypeScope="" ma:versionID="1732501790e058fd976f4dec6a73fa4d">
  <xsd:schema xmlns:xsd="http://www.w3.org/2001/XMLSchema" xmlns:xs="http://www.w3.org/2001/XMLSchema" xmlns:p="http://schemas.microsoft.com/office/2006/metadata/properties" xmlns:ns3="c82519a0-c5ed-48c9-8c99-b972c57ceecf" targetNamespace="http://schemas.microsoft.com/office/2006/metadata/properties" ma:root="true" ma:fieldsID="1f4d1805ef4cf520005b8d3e10a8f0e7" ns3:_="">
    <xsd:import namespace="c82519a0-c5ed-48c9-8c99-b972c57cee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519a0-c5ed-48c9-8c99-b972c57cee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2AF890-73B7-49AE-A5F6-D24E961656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BC01B1-44B7-4455-AE05-6DF60F32AA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519a0-c5ed-48c9-8c99-b972c57cee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AC91D5-0D24-4FCD-9EBE-33DEF9F6E401}">
  <ds:schemaRefs>
    <ds:schemaRef ds:uri="http://purl.org/dc/terms/"/>
    <ds:schemaRef ds:uri="c82519a0-c5ed-48c9-8c99-b972c57ceecf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858</Words>
  <Application>Microsoft Office PowerPoint</Application>
  <PresentationFormat>와이드스크린</PresentationFormat>
  <Paragraphs>105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KoPubWorld돋움체 Bold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박훈</dc:creator>
  <cp:lastModifiedBy>김형규</cp:lastModifiedBy>
  <cp:revision>64</cp:revision>
  <dcterms:created xsi:type="dcterms:W3CDTF">2023-11-08T08:25:48Z</dcterms:created>
  <dcterms:modified xsi:type="dcterms:W3CDTF">2026-04-08T11:45:17Z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0x010100BDEE8323A701A94E84F6C6256C0785E3</vt:lpwstr>
  </property>
</Properties>
</file>