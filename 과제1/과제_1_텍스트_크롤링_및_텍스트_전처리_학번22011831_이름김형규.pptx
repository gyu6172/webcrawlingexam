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7" r:id="rId5"/>
    <p:sldId id="267" r:id="rId6"/>
    <p:sldId id="271" r:id="rId7"/>
    <p:sldId id="273" r:id="rId8"/>
    <p:sldId id="272" r:id="rId9"/>
    <p:sldId id="274" r:id="rId10"/>
    <p:sldId id="275" r:id="rId11"/>
    <p:sldId id="278" r:id="rId12"/>
    <p:sldId id="279" r:id="rId13"/>
    <p:sldId id="277" r:id="rId14"/>
    <p:sldId id="28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74424" autoAdjust="0"/>
  </p:normalViewPr>
  <p:slideViewPr>
    <p:cSldViewPr snapToGrid="0">
      <p:cViewPr>
        <p:scale>
          <a:sx n="66" d="100"/>
          <a:sy n="66" d="100"/>
        </p:scale>
        <p:origin x="105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D947-0CA7-41F0-BCB5-BE015DE3DC7A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3D7E0-A644-41B0-A320-3BB3B116A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0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8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5DA8-3393-1B53-2E47-96C86570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A14177-CA58-1E1E-CE91-FA52803BD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D9B55-488C-4CA2-1C5D-F347C70DA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2BAE8-219B-CA6D-F008-D146C480E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167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A70C-6750-554C-8DA1-3B5CB3AF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361B95-BDF9-03E6-9187-CD4D7BE0B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944852-E81C-6181-04D4-621AC140A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76A88-7640-9132-0B5D-669633517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963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BF08-ABA7-5B66-5592-90E1E2961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E644AC-C803-99DE-B0E0-55E563E0E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B59E81-B1A4-4759-2EAF-542F78E97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A6134A-D8D4-2EB9-83C9-86B77922C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56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5F46-36AA-ED56-1273-EB586042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F20C81-E9E9-5883-9F3D-432815355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32B1B1-0060-193F-D6DA-9645CA8E3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958D1-1DBC-8207-1483-738DCF48A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96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6045-A6E1-DBA7-B17B-D7E7284E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27978B-117A-61AA-AC99-198C32AA1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54A457-69D9-07C6-6389-33557CABF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C7B00-55BB-A2E6-3013-8894E6FA7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4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301FD-0572-A60E-C3CA-75BC92BC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A838B9-3F54-9217-2F7A-15FC1110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EA1114-AE3C-3969-2961-0F3F0E769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241D0F-6CD6-9881-326E-BB0E9DACE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250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3733-73E5-C7D5-37B3-C05727A3B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0D64E8-E017-E391-EB6B-8D8D78866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10F04A-90A0-8F67-C9D6-E65719D25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74FA93-00A9-78BD-FF94-DA96CF146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153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1860-36FE-639C-1430-8B1D448E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39B93E-0D95-2DF9-A774-1AD6E720F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B58993-ABE6-4D0D-E1FC-3B7DF5E06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D68E1D-15D4-8C52-8A97-27A86A741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69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2462B-9312-B0EC-5A32-58EA3D1F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D011DC-B5C9-B1BF-A40F-9ECFEB0CD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90337-61AF-D556-FBE2-3CB81435F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E2DCB-E472-7717-97E6-EF6094E9B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38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1A400-4181-5E18-AA29-DCA88DB9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57595-DE8A-B9E5-4BE8-19E12D535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DCFCC-8F3B-E531-9728-36A2C4A2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B8ABA-990B-4839-A5CF-E9C60468A1E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F394B-5607-EC5D-933B-AF5AC947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5852C-17A5-AFC0-6D60-C3A2DB87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1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8F0C3-F54E-4A6B-AE03-943025AB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7E57E-EFAF-5A5A-4636-2B68C062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CDF17-552B-4823-DEC7-E4D79B774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B8ABA-990B-4839-A5CF-E9C60468A1E3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D90C8-D0DD-AF20-E9E9-879622771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952FF-B0C4-3236-9F27-17210563F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5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977" y="186393"/>
            <a:ext cx="720000" cy="7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281635" y="186393"/>
            <a:ext cx="719214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/>
          </p:cNvSpPr>
          <p:nvPr/>
        </p:nvSpPr>
        <p:spPr>
          <a:xfrm>
            <a:off x="455186" y="2436862"/>
            <a:ext cx="109902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_1</a:t>
            </a:r>
          </a:p>
          <a:p>
            <a:pPr algn="r"/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텍스트 </a:t>
            </a:r>
            <a:r>
              <a:rPr lang="ko-KR" altLang="en-US" sz="2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크롤링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및 텍스트 </a:t>
            </a:r>
            <a:r>
              <a:rPr lang="ko-KR" altLang="en-US" sz="2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전처리</a:t>
            </a:r>
            <a:endParaRPr lang="ko-KR" altLang="en-US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465412" y="3564693"/>
            <a:ext cx="1980029" cy="187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세종대학교 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소프트웨어학과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22011831</a:t>
            </a: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김형규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ECE80D-900C-97A8-98F6-8F0A42722D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97358" y="3403924"/>
            <a:ext cx="10545812" cy="38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038ADC-FCCB-A8B5-FBCC-9DEDD9436225}"/>
              </a:ext>
            </a:extLst>
          </p:cNvPr>
          <p:cNvSpPr txBox="1">
            <a:spLocks/>
          </p:cNvSpPr>
          <p:nvPr/>
        </p:nvSpPr>
        <p:spPr>
          <a:xfrm>
            <a:off x="676513" y="2054575"/>
            <a:ext cx="2472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2026-1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텍스트마이닝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80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The image shows a Python code snippet with various import statements, web scraping code using BeautifulSoup, and print statements displaying the count and snippets of paragraphs from a Wikipedia page on machine learning.&#10;&#10;AI 생성 콘텐츠는 정확하지 않을 수 있습니다.">
            <a:extLst>
              <a:ext uri="{FF2B5EF4-FFF2-40B4-BE49-F238E27FC236}">
                <a16:creationId xmlns:a16="http://schemas.microsoft.com/office/drawing/2014/main" id="{9E712866-1A8D-C09B-0C65-734C8D493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4" y="1189960"/>
            <a:ext cx="6559264" cy="5240337"/>
          </a:xfrm>
          <a:prstGeom prst="rect">
            <a:avLst/>
          </a:prstGeom>
        </p:spPr>
      </p:pic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6173100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0-2: HTML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구조 탐색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(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크롤링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전 분석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ACBF2D3-0DCF-D330-E0D0-5368C87810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9C3D08-937F-9B77-94D9-9DDD1F1CFA7D}"/>
              </a:ext>
            </a:extLst>
          </p:cNvPr>
          <p:cNvSpPr txBox="1"/>
          <p:nvPr/>
        </p:nvSpPr>
        <p:spPr>
          <a:xfrm>
            <a:off x="5355771" y="1260018"/>
            <a:ext cx="6621596" cy="44766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Q1. </a:t>
            </a:r>
            <a:r>
              <a:rPr lang="ko-KR" altLang="en-US" sz="1600" dirty="0"/>
              <a:t>본문 문단은 어떤 태그로 감싸져 있나요</a:t>
            </a:r>
            <a:r>
              <a:rPr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A1. &lt;p&gt; </a:t>
            </a:r>
            <a:r>
              <a:rPr lang="ko-KR" altLang="en-US" sz="1600" dirty="0"/>
              <a:t>태그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Q2. </a:t>
            </a:r>
            <a:r>
              <a:rPr lang="ko-KR" altLang="en-US" sz="1600" dirty="0"/>
              <a:t>본문 영역을 감싸는 상위 </a:t>
            </a:r>
            <a:r>
              <a:rPr lang="en-US" altLang="ko-KR" sz="1600" dirty="0"/>
              <a:t>&lt;div&gt;</a:t>
            </a:r>
            <a:r>
              <a:rPr lang="ko-KR" altLang="en-US" sz="1600" dirty="0"/>
              <a:t>의 </a:t>
            </a:r>
            <a:r>
              <a:rPr lang="en-US" altLang="ko-KR" sz="1600" dirty="0"/>
              <a:t>id</a:t>
            </a:r>
            <a:r>
              <a:rPr lang="ko-KR" altLang="en-US" sz="1600" dirty="0"/>
              <a:t>는 무엇인가요</a:t>
            </a:r>
            <a:r>
              <a:rPr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A2. #mw-content-text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Q3. </a:t>
            </a:r>
            <a:r>
              <a:rPr lang="ko-KR" altLang="en-US" sz="1600" dirty="0"/>
              <a:t>본문만 정확히 가져오려면 어떤 </a:t>
            </a:r>
            <a:r>
              <a:rPr lang="en-US" altLang="ko-KR" sz="1600" dirty="0"/>
              <a:t>CSS </a:t>
            </a:r>
            <a:r>
              <a:rPr lang="ko-KR" altLang="en-US" sz="1600" dirty="0"/>
              <a:t>선택자를 써야 할까요</a:t>
            </a:r>
            <a:r>
              <a:rPr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A3. #mw-content-text p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위키피디아 사이트에서 개발자모드를 통해 </a:t>
            </a:r>
            <a:r>
              <a:rPr lang="en-US" altLang="ko-KR" sz="1600" dirty="0"/>
              <a:t>HTML </a:t>
            </a:r>
            <a:r>
              <a:rPr lang="ko-KR" altLang="en-US" sz="1600" dirty="0"/>
              <a:t>태그 분석을 해보면</a:t>
            </a:r>
            <a:r>
              <a:rPr lang="en-US" altLang="ko-KR" sz="1600" dirty="0"/>
              <a:t>, “mw-content-text”</a:t>
            </a:r>
            <a:r>
              <a:rPr lang="ko-KR" altLang="en-US" sz="1600" dirty="0"/>
              <a:t>라는 </a:t>
            </a:r>
            <a:r>
              <a:rPr lang="en-US" altLang="ko-KR" sz="1600" dirty="0"/>
              <a:t>id</a:t>
            </a:r>
            <a:r>
              <a:rPr lang="ko-KR" altLang="en-US" sz="1600" dirty="0"/>
              <a:t>를 가진 태그가 본문을 감싸고 있는 것을 알 수 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#mw-content-text p</a:t>
            </a:r>
            <a:r>
              <a:rPr lang="ko-KR" altLang="en-US" sz="1600" dirty="0"/>
              <a:t>를 통해 본문의 텍스트만 정확히 가져올 수 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6345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2825-4DE8-7423-1F96-40C19A3A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1F6051C6-A043-ED54-B609-4F0DC11009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238FF0-401A-C182-E71D-1C71F1C464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C6B8EE-C586-0F28-C250-F2316890EE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95E9E-BB8F-2745-D5C7-0AC2C28EC4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601600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1-1: Wikipedia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랜덤 제목 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100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수집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9CADEF3-E146-14CE-9E3B-2CA2DBFD421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The image shows a segment of Python code, specifically a function or script that uses the requests library to fetch random Wikipedia titles.&#10;&#10;AI 생성 콘텐츠는 정확하지 않을 수 있습니다.">
            <a:extLst>
              <a:ext uri="{FF2B5EF4-FFF2-40B4-BE49-F238E27FC236}">
                <a16:creationId xmlns:a16="http://schemas.microsoft.com/office/drawing/2014/main" id="{3CA77F82-3F9B-6759-EE96-320967EDE3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921"/>
          <a:stretch>
            <a:fillRect/>
          </a:stretch>
        </p:blipFill>
        <p:spPr>
          <a:xfrm>
            <a:off x="155384" y="1224926"/>
            <a:ext cx="6112682" cy="5093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25CE27-7B20-82CE-92C1-401D56FAC653}"/>
              </a:ext>
            </a:extLst>
          </p:cNvPr>
          <p:cNvSpPr txBox="1"/>
          <p:nvPr/>
        </p:nvSpPr>
        <p:spPr>
          <a:xfrm>
            <a:off x="6511413" y="1496961"/>
            <a:ext cx="4308987" cy="25317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위키피디아 </a:t>
            </a:r>
            <a:r>
              <a:rPr lang="en-US" altLang="ko-KR" dirty="0"/>
              <a:t>API</a:t>
            </a:r>
            <a:r>
              <a:rPr lang="ko-KR" altLang="en-US" dirty="0"/>
              <a:t>와 </a:t>
            </a:r>
            <a:r>
              <a:rPr lang="en-US" altLang="ko-KR" dirty="0" err="1"/>
              <a:t>BeautifulSoup</a:t>
            </a:r>
            <a:r>
              <a:rPr lang="en-US" altLang="ko-KR" dirty="0"/>
              <a:t> </a:t>
            </a:r>
            <a:r>
              <a:rPr lang="ko-KR" altLang="en-US" dirty="0"/>
              <a:t>라이브러리를 이용해 랜덤 문서 </a:t>
            </a:r>
            <a:r>
              <a:rPr lang="en-US" altLang="ko-KR" dirty="0"/>
              <a:t>100</a:t>
            </a:r>
            <a:r>
              <a:rPr lang="ko-KR" altLang="en-US" dirty="0"/>
              <a:t>개의 제목을 가져온다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Params </a:t>
            </a:r>
            <a:r>
              <a:rPr lang="ko-KR" altLang="en-US" dirty="0"/>
              <a:t>파라미터 설정을 통해 응답 형식</a:t>
            </a:r>
            <a:r>
              <a:rPr lang="en-US" altLang="ko-KR" dirty="0"/>
              <a:t>(JSON), </a:t>
            </a:r>
            <a:r>
              <a:rPr lang="ko-KR" altLang="en-US" dirty="0"/>
              <a:t>가져올 문서 개수</a:t>
            </a:r>
            <a:r>
              <a:rPr lang="en-US" altLang="ko-KR" dirty="0"/>
              <a:t>(</a:t>
            </a:r>
            <a:r>
              <a:rPr lang="en-US" altLang="ko-KR" dirty="0" err="1"/>
              <a:t>rnlimit</a:t>
            </a:r>
            <a:r>
              <a:rPr lang="en-US" altLang="ko-KR" dirty="0"/>
              <a:t>)</a:t>
            </a:r>
            <a:r>
              <a:rPr lang="ko-KR" altLang="en-US" dirty="0"/>
              <a:t>등을 정의한다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880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9398-BDE4-AC6C-A5A2-A99E4839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3D19F3C0-9934-4956-8913-1C3B53D7F9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FB701A-9496-2191-A811-9336EFD135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14664A-B567-A2DE-2415-811B789F1D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44E60-6475-F8F5-2158-E3E0CA5245B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601600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1-1: Wikipedia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랜덤 제목 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100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수집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074ABAE-DF6F-B5F7-5157-C1DE78CFB4D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DE7F79-E680-0CF4-41DF-383C84D01212}"/>
              </a:ext>
            </a:extLst>
          </p:cNvPr>
          <p:cNvSpPr txBox="1"/>
          <p:nvPr/>
        </p:nvSpPr>
        <p:spPr>
          <a:xfrm>
            <a:off x="282240" y="3727896"/>
            <a:ext cx="8099759" cy="4542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앞에서 가져온 </a:t>
            </a:r>
            <a:r>
              <a:rPr lang="en-US" altLang="ko-KR" dirty="0"/>
              <a:t>JSON </a:t>
            </a:r>
            <a:r>
              <a:rPr lang="ko-KR" altLang="en-US" dirty="0"/>
              <a:t>형식 구조에서 </a:t>
            </a:r>
            <a:r>
              <a:rPr lang="en-US" altLang="ko-KR" dirty="0"/>
              <a:t>title</a:t>
            </a:r>
            <a:r>
              <a:rPr lang="ko-KR" altLang="en-US" dirty="0"/>
              <a:t>만 추출하여</a:t>
            </a:r>
            <a:r>
              <a:rPr lang="en-US" altLang="ko-KR" dirty="0"/>
              <a:t> titles </a:t>
            </a:r>
            <a:r>
              <a:rPr lang="ko-KR" altLang="en-US" dirty="0"/>
              <a:t>리스트에 저장한다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The image shows a segment of JSON data with a Python script that extracts and prints the titles of a collection of documents, including 'SEK Class Theta-beta' and '2012 ARIA Music Awards'.&#10;&#10;AI 생성 콘텐츠는 정확하지 않을 수 있습니다.">
            <a:extLst>
              <a:ext uri="{FF2B5EF4-FFF2-40B4-BE49-F238E27FC236}">
                <a16:creationId xmlns:a16="http://schemas.microsoft.com/office/drawing/2014/main" id="{04B2D37C-5B4A-236C-4978-2936DBD7A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1" y="1390739"/>
            <a:ext cx="1127917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8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53C6-5C8B-A98E-7FD1-7C02A233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4C637F99-338F-33F7-9DAC-FF368ABA4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55C274-0AB0-F877-4AD6-8431E0B5E4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942DA7-B0A9-275F-AC58-5A56AB212A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4A87C-AD47-733A-F1EC-4D65B46355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7454348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1-2: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</a:t>
            </a:r>
            <a:r>
              <a:rPr lang="en-US" altLang="ko-KR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Wikepedia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페이지 본문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(content)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크롤링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AF78540-922A-7B1B-575D-178DFB96CA3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The image depicts a code snippet in a programming language, showcasing a loop that extracts text from web pages and references, specifically targeting Wikipedia's page structure.&#10;&#10;AI 생성 콘텐츠는 정확하지 않을 수 있습니다.">
            <a:extLst>
              <a:ext uri="{FF2B5EF4-FFF2-40B4-BE49-F238E27FC236}">
                <a16:creationId xmlns:a16="http://schemas.microsoft.com/office/drawing/2014/main" id="{E0505664-9A0E-91D3-5A50-E133783E9F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57" t="1600" b="1301"/>
          <a:stretch>
            <a:fillRect/>
          </a:stretch>
        </p:blipFill>
        <p:spPr>
          <a:xfrm>
            <a:off x="239486" y="1349831"/>
            <a:ext cx="6451862" cy="43978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44A4B2-FB49-B9C1-0382-CFD7D139A849}"/>
              </a:ext>
            </a:extLst>
          </p:cNvPr>
          <p:cNvSpPr txBox="1"/>
          <p:nvPr/>
        </p:nvSpPr>
        <p:spPr>
          <a:xfrm>
            <a:off x="6531428" y="1777999"/>
            <a:ext cx="5505187" cy="2947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앞에서 저장한 </a:t>
            </a:r>
            <a:r>
              <a:rPr lang="en-US" altLang="ko-KR" dirty="0"/>
              <a:t>title</a:t>
            </a:r>
            <a:r>
              <a:rPr lang="ko-KR" altLang="en-US" dirty="0"/>
              <a:t>리스트를 이용하여 위키피디아 </a:t>
            </a:r>
            <a:r>
              <a:rPr lang="ko-KR" altLang="en-US" dirty="0" err="1"/>
              <a:t>크롤링을</a:t>
            </a:r>
            <a:r>
              <a:rPr lang="ko-KR" altLang="en-US" dirty="0"/>
              <a:t> 진행하고</a:t>
            </a:r>
            <a:r>
              <a:rPr lang="en-US" altLang="ko-KR" dirty="0"/>
              <a:t>, </a:t>
            </a:r>
            <a:r>
              <a:rPr lang="ko-KR" altLang="en-US" dirty="0"/>
              <a:t>본문 내용과 </a:t>
            </a:r>
            <a:r>
              <a:rPr lang="en-US" altLang="ko-KR" dirty="0"/>
              <a:t>references </a:t>
            </a:r>
            <a:r>
              <a:rPr lang="ko-KR" altLang="en-US" dirty="0"/>
              <a:t>섹션의 내용들을 따로 저장해준다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-&gt;</a:t>
            </a:r>
            <a:r>
              <a:rPr lang="ko-KR" altLang="en-US" dirty="0"/>
              <a:t> 본문의 내용으로만 전처리를 진행하면</a:t>
            </a:r>
            <a:r>
              <a:rPr lang="en-US" altLang="ko-KR" dirty="0"/>
              <a:t>, ‘retrieved’, ‘original’, ‘archived’ </a:t>
            </a:r>
            <a:r>
              <a:rPr lang="ko-KR" altLang="en-US" dirty="0"/>
              <a:t>등과 같은 </a:t>
            </a:r>
            <a:r>
              <a:rPr lang="en-US" altLang="ko-KR" dirty="0"/>
              <a:t>references </a:t>
            </a:r>
            <a:r>
              <a:rPr lang="ko-KR" altLang="en-US" dirty="0"/>
              <a:t>섹션에서 등장하는 단어들은 대부분의 문서에 있기 때문에</a:t>
            </a:r>
            <a:r>
              <a:rPr lang="en-US" altLang="ko-KR" dirty="0"/>
              <a:t>, Frequency </a:t>
            </a:r>
            <a:r>
              <a:rPr lang="ko-KR" altLang="en-US" dirty="0"/>
              <a:t>계산 시 노이즈를 줄일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96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F8C5-113B-4CDF-B7DF-8ACC866D8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image contains a DataFrame table with three columns titled 'title', 'content', and 'references', containing various entries related to different topics such as languages, people, and events.&#10;&#10;AI 생성 콘텐츠는 정확하지 않을 수 있습니다.">
            <a:extLst>
              <a:ext uri="{FF2B5EF4-FFF2-40B4-BE49-F238E27FC236}">
                <a16:creationId xmlns:a16="http://schemas.microsoft.com/office/drawing/2014/main" id="{F46954BF-5488-FF84-F432-423A9077C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4" y="1823373"/>
            <a:ext cx="7201355" cy="2875977"/>
          </a:xfrm>
          <a:prstGeom prst="rect">
            <a:avLst/>
          </a:prstGeom>
        </p:spPr>
      </p:pic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67346BD6-8236-D20E-6330-9B883EBB5F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15431E-A506-ACDF-E46C-F7D4072EA3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8A24F5-FDEB-0BA5-154F-655CF2A2DD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03552-2733-3F35-31AA-DC2F8DCE97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116448" cy="1128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1-3: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데이터프레임 생성</a:t>
            </a:r>
            <a:endParaRPr lang="en-US" altLang="ko-KR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1-4: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확인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227DC18-6D8D-0E32-59E9-B190C783B9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208FF4-4B1C-E620-C343-8D54CE5620A7}"/>
              </a:ext>
            </a:extLst>
          </p:cNvPr>
          <p:cNvSpPr txBox="1"/>
          <p:nvPr/>
        </p:nvSpPr>
        <p:spPr>
          <a:xfrm>
            <a:off x="155384" y="4869067"/>
            <a:ext cx="5309244" cy="454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크롤링한 데이터를 데이터프레임으로 정리해준다</a:t>
            </a:r>
            <a:r>
              <a:rPr lang="en-US" altLang="ko-KR" dirty="0"/>
              <a:t>.</a:t>
            </a:r>
          </a:p>
        </p:txBody>
      </p:sp>
      <p:pic>
        <p:nvPicPr>
          <p:cNvPr id="12" name="그림 11" descr="The image shows a code snippet in Python displaying the total number of documents (100) and the length of the first document (743 characters).&#10;&#10;AI 생성 콘텐츠는 정확하지 않을 수 있습니다.">
            <a:extLst>
              <a:ext uri="{FF2B5EF4-FFF2-40B4-BE49-F238E27FC236}">
                <a16:creationId xmlns:a16="http://schemas.microsoft.com/office/drawing/2014/main" id="{9CD47424-0DA8-1F68-7C20-321A59256D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677" y="4850528"/>
            <a:ext cx="5258534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2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953F-2E94-2676-09F6-29BD682E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A Python code snippet showing a function to clean text by converting to lowercase, removing specific tags and citations, and excluding special characters.&#10;&#10;AI 생성 콘텐츠는 정확하지 않을 수 있습니다.">
            <a:extLst>
              <a:ext uri="{FF2B5EF4-FFF2-40B4-BE49-F238E27FC236}">
                <a16:creationId xmlns:a16="http://schemas.microsoft.com/office/drawing/2014/main" id="{52B94C6A-050D-576E-6619-2583F2F3D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4" y="1269376"/>
            <a:ext cx="5707174" cy="4318624"/>
          </a:xfrm>
          <a:prstGeom prst="rect">
            <a:avLst/>
          </a:prstGeom>
        </p:spPr>
      </p:pic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20FDBF62-18DC-E9BC-5745-CB4182E96E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A547F1B-0520-DB68-C2F1-4A6ADC33F9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8FFAEE-E35F-EE41-691D-298761A075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44199-1095-DAC2-81F5-08E1E88EF1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5331524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2: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텍스트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전처리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(Cleaning)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목표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A2A7AC4-00F4-5742-3481-0681CB5A84F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586EA3-5401-E880-799F-F7BC9D455726}"/>
              </a:ext>
            </a:extLst>
          </p:cNvPr>
          <p:cNvSpPr txBox="1"/>
          <p:nvPr/>
        </p:nvSpPr>
        <p:spPr>
          <a:xfrm>
            <a:off x="6376648" y="1342645"/>
            <a:ext cx="4850152" cy="3362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가져온 </a:t>
            </a:r>
            <a:r>
              <a:rPr lang="en-US" altLang="ko-KR" dirty="0"/>
              <a:t>corpus </a:t>
            </a:r>
            <a:r>
              <a:rPr lang="ko-KR" altLang="en-US" dirty="0"/>
              <a:t>데이터를 </a:t>
            </a:r>
            <a:r>
              <a:rPr lang="en-US" altLang="ko-KR" dirty="0" err="1"/>
              <a:t>clean_text</a:t>
            </a:r>
            <a:r>
              <a:rPr lang="ko-KR" altLang="en-US" dirty="0"/>
              <a:t>로 변환해주는 함수이다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소문자로 변환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[edit], [update]</a:t>
            </a:r>
            <a:r>
              <a:rPr lang="ko-KR" altLang="en-US" dirty="0"/>
              <a:t>와 같은 위키 태그 제거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[1], [2]</a:t>
            </a:r>
            <a:r>
              <a:rPr lang="ko-KR" altLang="en-US" dirty="0"/>
              <a:t>과 같은 </a:t>
            </a:r>
            <a:r>
              <a:rPr lang="en-US" altLang="ko-KR" dirty="0"/>
              <a:t>citation </a:t>
            </a:r>
            <a:r>
              <a:rPr lang="ko-KR" altLang="en-US" dirty="0"/>
              <a:t>제거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특수문자 및 숫자 제거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데이터프레임에 본문을 </a:t>
            </a:r>
            <a:r>
              <a:rPr lang="en-US" altLang="ko-KR" dirty="0" err="1"/>
              <a:t>clean_text</a:t>
            </a:r>
            <a:r>
              <a:rPr lang="ko-KR" altLang="en-US" dirty="0"/>
              <a:t>로 변환한  텍스트들을 저장한다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981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589A3-C322-C915-B080-332A9A5F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DD0AF086-EBDB-191B-D988-1EC36BD2A1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875260-62BE-2FA1-E931-22DB6692D8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D7E40F-4A2D-FC92-F7AD-12DBAC02D7E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DD9E44-7F30-C485-24A7-479A55072B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5596019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3: Tokenization + </a:t>
            </a:r>
            <a:r>
              <a:rPr lang="en-US" altLang="ko-KR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Stopwords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제거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CB33C89-CB8A-4E76-EDAF-C86E9D40CC6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E2E139-855E-4038-DD9B-B5F4AB8E75EF}"/>
              </a:ext>
            </a:extLst>
          </p:cNvPr>
          <p:cNvSpPr txBox="1"/>
          <p:nvPr/>
        </p:nvSpPr>
        <p:spPr>
          <a:xfrm>
            <a:off x="6587105" y="1415143"/>
            <a:ext cx="5118666" cy="1700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Clean_text</a:t>
            </a:r>
            <a:r>
              <a:rPr lang="ko-KR" altLang="en-US" dirty="0"/>
              <a:t>로 정제된 텍스트를 단어</a:t>
            </a:r>
            <a:r>
              <a:rPr lang="en-US" altLang="ko-KR" dirty="0"/>
              <a:t>(Token)</a:t>
            </a:r>
            <a:r>
              <a:rPr lang="ko-KR" altLang="en-US" dirty="0"/>
              <a:t>단위로 쪼개고 불용어를 제거하는 코드이다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Nltk</a:t>
            </a:r>
            <a:r>
              <a:rPr lang="ko-KR" altLang="en-US" dirty="0"/>
              <a:t>라이브러리에서 </a:t>
            </a:r>
            <a:r>
              <a:rPr lang="ko-KR" altLang="en-US" dirty="0" err="1"/>
              <a:t>불용어</a:t>
            </a:r>
            <a:r>
              <a:rPr lang="ko-KR" altLang="en-US" dirty="0"/>
              <a:t> 리스트를 가져온 뒤</a:t>
            </a:r>
            <a:r>
              <a:rPr lang="en-US" altLang="ko-KR" dirty="0"/>
              <a:t>, </a:t>
            </a:r>
            <a:r>
              <a:rPr lang="ko-KR" altLang="en-US" dirty="0"/>
              <a:t>불용어와 길이가 </a:t>
            </a:r>
            <a:r>
              <a:rPr lang="en-US" altLang="ko-KR" dirty="0"/>
              <a:t>2 </a:t>
            </a:r>
            <a:r>
              <a:rPr lang="ko-KR" altLang="en-US" dirty="0"/>
              <a:t>이하인 단어들을 제거한다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The text describes a Python code snippet that uses the Natural Language Toolkit (NLTK) to tokenize text, remove stopwords, and filter out tokens with a length of less than 3 characters.&#10;&#10;AI 생성 콘텐츠는 정확하지 않을 수 있습니다.">
            <a:extLst>
              <a:ext uri="{FF2B5EF4-FFF2-40B4-BE49-F238E27FC236}">
                <a16:creationId xmlns:a16="http://schemas.microsoft.com/office/drawing/2014/main" id="{811BEC4C-31EB-7622-D71C-E32E28B78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891" y="1415143"/>
            <a:ext cx="6121757" cy="385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2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89DC-CB12-27EC-5C7D-C296AAD0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1A77D595-1D8B-59D2-7CA9-4CE2248A5C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48D7F0B-C7E4-BC96-BCE2-2D08A81AC7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954277-05F0-01D4-2B8D-7E629C1F25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4641C-9602-E8DB-6602-9E6F457FB6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71297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4: Word Frequency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분석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ECB7470-D215-4BEC-CC69-170D006F66C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1D538E-E93C-4517-FC39-E2E462241DB9}"/>
              </a:ext>
            </a:extLst>
          </p:cNvPr>
          <p:cNvSpPr txBox="1"/>
          <p:nvPr/>
        </p:nvSpPr>
        <p:spPr>
          <a:xfrm>
            <a:off x="5447733" y="1435921"/>
            <a:ext cx="4850152" cy="8697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모든 문서의 토큰을 합친 뒤</a:t>
            </a:r>
            <a:r>
              <a:rPr lang="en-US" altLang="ko-KR" dirty="0"/>
              <a:t>,</a:t>
            </a:r>
            <a:r>
              <a:rPr lang="ko-KR" altLang="en-US" dirty="0"/>
              <a:t> 각 토큰의 등장 빈도를 계산하는 코드이다</a:t>
            </a:r>
            <a:r>
              <a:rPr lang="en-US" altLang="ko-KR" dirty="0"/>
              <a:t>.</a:t>
            </a:r>
          </a:p>
        </p:txBody>
      </p:sp>
      <p:pic>
        <p:nvPicPr>
          <p:cNvPr id="14" name="그림 13" descr="A snippet of Python code demonstrates how to use the `collections.Counter` class to count the frequency of words in a list and display the top 20 most common words.&#10;&#10;AI 생성 콘텐츠는 정확하지 않을 수 있습니다.">
            <a:extLst>
              <a:ext uri="{FF2B5EF4-FFF2-40B4-BE49-F238E27FC236}">
                <a16:creationId xmlns:a16="http://schemas.microsoft.com/office/drawing/2014/main" id="{2B39DBB2-19A9-5531-BBE9-9ACCBA3A7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00" y="1407886"/>
            <a:ext cx="3156857" cy="51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94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80C3-DF02-3E5B-B176-F5BF3CC7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BA6D59F6-DB6D-62C8-F61D-D39380F1DA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85DAE9-A243-D7CE-D61E-878BCD59B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39F18C-FA03-FB3A-91CC-1FA7E051158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C5D62-25A0-8164-B506-678C5F63740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860480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5: </a:t>
            </a:r>
            <a:r>
              <a:rPr lang="en-US" altLang="ko-KR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WordCloud</a:t>
            </a: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499085C-7F7B-3A2D-E9EB-90FB1895C79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0E03B-920E-DE40-04F6-4FCB86695316}"/>
              </a:ext>
            </a:extLst>
          </p:cNvPr>
          <p:cNvSpPr txBox="1"/>
          <p:nvPr/>
        </p:nvSpPr>
        <p:spPr>
          <a:xfrm>
            <a:off x="6096000" y="1345719"/>
            <a:ext cx="4850152" cy="2116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Wordcloud</a:t>
            </a:r>
            <a:r>
              <a:rPr lang="en-US" altLang="ko-KR" dirty="0"/>
              <a:t> </a:t>
            </a:r>
            <a:r>
              <a:rPr lang="ko-KR" altLang="en-US" dirty="0"/>
              <a:t>패키지를 이용해 </a:t>
            </a:r>
            <a:r>
              <a:rPr lang="en-US" altLang="ko-KR" dirty="0" err="1"/>
              <a:t>all_words</a:t>
            </a:r>
            <a:r>
              <a:rPr lang="ko-KR" altLang="en-US" dirty="0"/>
              <a:t>리스트에 자주 등장하는 단어들을 시각적으로 보여준다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first, one, year</a:t>
            </a:r>
            <a:r>
              <a:rPr lang="ko-KR" altLang="en-US" dirty="0"/>
              <a:t>와 같은 단어들이 자주 등장한 것을 알 수 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The image depicts a word cloud, showcasing a diverse collection of terms including 'football', 'game', 'school', 'university', 'series', and 'sport'.&#10;&#10;AI 생성 콘텐츠는 정확하지 않을 수 있습니다.">
            <a:extLst>
              <a:ext uri="{FF2B5EF4-FFF2-40B4-BE49-F238E27FC236}">
                <a16:creationId xmlns:a16="http://schemas.microsoft.com/office/drawing/2014/main" id="{9EBA7B1F-BAE8-9D9D-A4A0-F0B4611AC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345719"/>
            <a:ext cx="5518808" cy="480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34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D1AE-BC56-B323-E454-18FD014D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3A248DA-B946-058E-4C8D-E2CA4538C0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2BDBBC-D340-F703-598C-3EE03455D7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FD96DB-5D4C-C1E1-B9E7-666D2670AD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_1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5A0EE-445D-A605-30B0-E3B9C897B9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2896562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저장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47722DF-43A3-8902-8AC3-52B50101B9C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E805346-AF8C-1793-EFDE-F6DBB26F57F5}"/>
              </a:ext>
            </a:extLst>
          </p:cNvPr>
          <p:cNvSpPr txBox="1"/>
          <p:nvPr/>
        </p:nvSpPr>
        <p:spPr>
          <a:xfrm>
            <a:off x="5994400" y="1591408"/>
            <a:ext cx="4850152" cy="8697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데이터프레임을 나중에 학습을 위해 </a:t>
            </a:r>
            <a:r>
              <a:rPr lang="en-US" altLang="ko-KR" dirty="0"/>
              <a:t>.csv</a:t>
            </a:r>
            <a:r>
              <a:rPr lang="ko-KR" altLang="en-US" dirty="0"/>
              <a:t>파일로 저장한다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wikipedia_text_dataset.csv&#10;&#10;AI 생성 콘텐츠는 정확하지 않을 수 있습니다.">
            <a:extLst>
              <a:ext uri="{FF2B5EF4-FFF2-40B4-BE49-F238E27FC236}">
                <a16:creationId xmlns:a16="http://schemas.microsoft.com/office/drawing/2014/main" id="{D5137FCE-F7E6-EBB1-0C76-5ED7B7DB7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591061"/>
            <a:ext cx="5496692" cy="14575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DD9649B-29F2-910A-6F4A-30BE9BE1BC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384" y="3473506"/>
            <a:ext cx="7786914" cy="24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14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DEE8323A701A94E84F6C6256C0785E3" ma:contentTypeVersion="4" ma:contentTypeDescription="새 문서를 만듭니다." ma:contentTypeScope="" ma:versionID="1732501790e058fd976f4dec6a73fa4d">
  <xsd:schema xmlns:xsd="http://www.w3.org/2001/XMLSchema" xmlns:xs="http://www.w3.org/2001/XMLSchema" xmlns:p="http://schemas.microsoft.com/office/2006/metadata/properties" xmlns:ns3="c82519a0-c5ed-48c9-8c99-b972c57ceecf" targetNamespace="http://schemas.microsoft.com/office/2006/metadata/properties" ma:root="true" ma:fieldsID="1f4d1805ef4cf520005b8d3e10a8f0e7" ns3:_="">
    <xsd:import namespace="c82519a0-c5ed-48c9-8c99-b972c57cee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519a0-c5ed-48c9-8c99-b972c57cee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AC91D5-0D24-4FCD-9EBE-33DEF9F6E401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c82519a0-c5ed-48c9-8c99-b972c57ceecf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B2AF890-73B7-49AE-A5F6-D24E96165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BC01B1-44B7-4455-AE05-6DF60F32AA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519a0-c5ed-48c9-8c99-b972c57cee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456</Words>
  <Application>Microsoft Office PowerPoint</Application>
  <PresentationFormat>와이드스크린</PresentationFormat>
  <Paragraphs>65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KoPubWorld돋움체 Bold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박훈</dc:creator>
  <cp:lastModifiedBy>김형규</cp:lastModifiedBy>
  <cp:revision>56</cp:revision>
  <dcterms:created xsi:type="dcterms:W3CDTF">2023-11-08T08:25:48Z</dcterms:created>
  <dcterms:modified xsi:type="dcterms:W3CDTF">2026-03-20T05:51:17Z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0x010100BDEE8323A701A94E84F6C6256C0785E3</vt:lpwstr>
  </property>
</Properties>
</file>